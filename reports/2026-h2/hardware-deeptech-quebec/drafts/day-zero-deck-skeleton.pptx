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à réécrire en toute fin de projet — les 5 messages doivent sortir de l'analyse, pas la précéder. Ton grand public : chaque message compréhensible sans contexte technique.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Pourquoi ce rapport, pourquoi maintenant</a:t>
            </a:r>
          </a:p>
          <a:p/>
          <a:p>
            <a:r>
              <a:t>QUESTION ANALYTIQUE:</a:t>
            </a:r>
          </a:p>
          <a:p>
            <a:r>
              <a:t>Quelle est la fenêtre de pertinence de ce rapport ?</a:t>
            </a:r>
          </a:p>
          <a:p/>
          <a:p>
            <a:r>
              <a:t>DONNÉES / SOURCES:</a:t>
            </a:r>
          </a:p>
          <a:p>
            <a:r>
              <a:t>Contexte global : CHIPS Act (US 2022), Chips Act (EU 2023), réponse canadienne limitée. Contexte QC : héritage photonique INO/EXFO, pôle quantique émergent, contraste post-GenAI SW/HW. Contexte politique : cycle électoral QC fin 2026.</a:t>
            </a:r>
          </a:p>
          <a:p/>
          <a:p>
            <a:r>
              <a:t>VISUEL (PLACEHOLDER):</a:t>
            </a:r>
          </a:p>
          <a:p>
            <a:r>
              <a:t>Timeline horizontale 2017–2026 avec événements-clés (COVID, CHIPS Act, vague GenAI, élections QC) superposée à une courbe de formation hard-tech.</a:t>
            </a:r>
          </a:p>
          <a:p/>
          <a:p>
            <a:r>
              <a:t>TAKEAWAY ATTENDU:</a:t>
            </a:r>
          </a:p>
          <a:p>
            <a:r>
              <a:t>Fenêtre de pertinence claire : les politiques deep-tech se durcissent à l'international; le Québec a les ancres mais pas le momentum; les élections ouvrent l'espace discursif.</a:t>
            </a:r>
          </a:p>
          <a:p/>
          <a:p>
            <a:r>
              <a:t>CAVEATS:</a:t>
            </a:r>
          </a:p>
          <a:p>
            <a:r>
              <a:t>Ne pas surcharger le contexte politique électoral — rapport grand public, pas partisan.</a:t>
            </a:r>
          </a:p>
          <a:p/>
          <a:p>
            <a:r>
              <a:t>STATUS: Narratif prêt; viz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Deep tech, hard tech : de quoi parle-t-on ?</a:t>
            </a:r>
          </a:p>
          <a:p/>
          <a:p>
            <a:r>
              <a:t>QUESTION ANALYTIQUE:</a:t>
            </a:r>
          </a:p>
          <a:p>
            <a:r>
              <a:t>Qu'est-ce que ce rapport appelle 'deep tech' et 'hard tech' ? Comment distingue-t-on ces compagnies des autres start-ups technologiques ?</a:t>
            </a:r>
          </a:p>
          <a:p/>
          <a:p>
            <a:r>
              <a:t>DONNÉES / SOURCES:</a:t>
            </a:r>
          </a:p>
          <a:p>
            <a:r>
              <a:t>Deep tech = bâti sur avancée scientifique/ingénierie substantielle, cycles R-D longs, capital-intense. Hard tech = sous-ensemble à produit physique au cœur. Ce rapport couvre deep tech large (9 piliers).</a:t>
            </a:r>
          </a:p>
          <a:p/>
          <a:p>
            <a:r>
              <a:t>VISUEL (PLACEHOLDER):</a:t>
            </a:r>
          </a:p>
          <a:p>
            <a:r>
              <a:t>Schéma en cercles concentriques (deep tech large → hard tech → 9 piliers), avec liste courte 'INCLUS / EXCLU' et 3 exemples publics QC par colonne.</a:t>
            </a:r>
          </a:p>
          <a:p/>
          <a:p>
            <a:r>
              <a:t>TAKEAWAY ATTENDU:</a:t>
            </a:r>
          </a:p>
          <a:p>
            <a:r>
              <a:t>Le lecteur grand public doit, en 30 secondes, comprendre où est la frontière entre ce qu'on compte et ce qu'on exclut (SaaS pur, IA pure, fintech).</a:t>
            </a:r>
          </a:p>
          <a:p/>
          <a:p>
            <a:r>
              <a:t>CAVEATS:</a:t>
            </a:r>
          </a:p>
          <a:p>
            <a:r>
              <a:t>Définitions stabilisées dans analysis/taxonomy-and-definitions.md. Renvoi explicite pour le lecteur qui veut creuser.</a:t>
            </a:r>
          </a:p>
          <a:p/>
          <a:p>
            <a:r>
              <a:t>STATUS: Définitions arrêtées; viz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Les 9 piliers du deep tech québécois</a:t>
            </a:r>
          </a:p>
          <a:p/>
          <a:p>
            <a:r>
              <a:t>QUESTION ANALYTIQUE:</a:t>
            </a:r>
          </a:p>
          <a:p>
            <a:r>
              <a:t>Comment le deep tech québécois se décompose-t-il concrètement ?</a:t>
            </a:r>
          </a:p>
          <a:p/>
          <a:p>
            <a:r>
              <a:t>DONNÉES / SOURCES:</a:t>
            </a:r>
          </a:p>
          <a:p>
            <a:r>
              <a:t>Table 9 lignes : photonique, quantique, semi, robotique, spatial, matériaux avancés, medtech/biotech-hw, cleantech-hw, agri-tech-hw. Définition en une phrase + un exemple public par pilier (EXFO, Nord Quantique, IBM Bromont, Kinova, MDA, NanoXplore, Medtronic, Lion Electric, Semios).</a:t>
            </a:r>
          </a:p>
          <a:p/>
          <a:p>
            <a:r>
              <a:t>VISUEL (PLACEHOLDER):</a:t>
            </a:r>
          </a:p>
          <a:p>
            <a:r>
              <a:t>Grille 3×3 de tuiles avec icône, nom du pilier, phrase-définition, logo/nom d'une compagnie publique québécoise.</a:t>
            </a:r>
          </a:p>
          <a:p/>
          <a:p>
            <a:r>
              <a:t>TAKEAWAY ATTENDU:</a:t>
            </a:r>
          </a:p>
          <a:p>
            <a:r>
              <a:t>Le lecteur comprend en 30 secondes la diversité des piliers et peut associer chaque pilier à un nom concret — démystifie la notion abstraite de 'deep tech'.</a:t>
            </a:r>
          </a:p>
          <a:p/>
          <a:p>
            <a:r>
              <a:t>CAVEATS:</a:t>
            </a:r>
          </a:p>
          <a:p>
            <a:r>
              <a:t>Cohérence critique avec analysis/taxonomy-and-definitions.md. Tout changement de nomenclature ici doit être répercuté là.</a:t>
            </a:r>
          </a:p>
          <a:p/>
          <a:p>
            <a:r>
              <a:t>STATUS: Contenu prêt; viz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Comment on a fait (méthodologie en 30 secondes)</a:t>
            </a:r>
          </a:p>
          <a:p/>
          <a:p>
            <a:r>
              <a:t>QUESTION ANALYTIQUE:</a:t>
            </a:r>
          </a:p>
          <a:p>
            <a:r>
              <a:t>Comment les chiffres ont-ils été obtenus ? Quelle confiance peut-on y accorder ?</a:t>
            </a:r>
          </a:p>
          <a:p/>
          <a:p>
            <a:r>
              <a:t>DONNÉES / SOURCES:</a:t>
            </a:r>
          </a:p>
          <a:p>
            <a:r>
              <a:t>Point de départ : REQ. Classification hybride mots-clés + codes CAE. Croisement Dealroom (QT) et PitchBook (RC). Trois niveaux de confiance : HAUTE / MOYENNE / BASSE.</a:t>
            </a:r>
          </a:p>
          <a:p/>
          <a:p>
            <a:r>
              <a:t>VISUEL (PLACEHOLDER):</a:t>
            </a:r>
          </a:p>
          <a:p>
            <a:r>
              <a:t>Infographie horizontale en 4 étapes (REQ → classification hybride → croisement sources → fiabilité tiers) avec icônes.</a:t>
            </a:r>
          </a:p>
          <a:p/>
          <a:p>
            <a:r>
              <a:t>TAKEAWAY ATTENDU:</a:t>
            </a:r>
          </a:p>
          <a:p>
            <a:r>
              <a:t>On est transparent sur les plages de confiance. Les compagnies incorporées au fédéral (CBCA) sont un angle mort à combler via Dealroom/PitchBook.</a:t>
            </a:r>
          </a:p>
          <a:p/>
          <a:p>
            <a:r>
              <a:t>CAVEATS:</a:t>
            </a:r>
          </a:p>
          <a:p>
            <a:r>
              <a:t>73 % des classifications historiques reposaient sur CAE seul. Importance d'annoncer les plages de confiance.</a:t>
            </a:r>
          </a:p>
          <a:p/>
          <a:p>
            <a:r>
              <a:t>STATUS: Texte prêt. Accord RC critique pour la partie PitchBook — à obtenir dans les 2 premières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Combien de compagnies deep-tech au Québec</a:t>
            </a:r>
          </a:p>
          <a:p/>
          <a:p>
            <a:r>
              <a:t>QUESTION ANALYTIQUE:</a:t>
            </a:r>
          </a:p>
          <a:p>
            <a:r>
              <a:t>Quel est l'univers de compagnies deep-tech au Québec en 2026, et comment est-il borné ?</a:t>
            </a:r>
          </a:p>
          <a:p/>
          <a:p>
            <a:r>
              <a:t>DONNÉES / SOURCES:</a:t>
            </a:r>
          </a:p>
          <a:p>
            <a:r>
              <a:t>SILVER.REQ_PRODUCT_CLASSIFICATION filtré DEEPTECH + cross-ref GOLD.STARTUP_REGISTRY. Extension de l'analyse existante INTERNAL-hardware-photonics-req-2026 au DEEPTECH complet.</a:t>
            </a:r>
          </a:p>
          <a:p/>
          <a:p>
            <a:r>
              <a:t>VISUEL (PLACEHOLDER):</a:t>
            </a:r>
          </a:p>
          <a:p>
            <a:r>
              <a:t>Grand chiffre avec fourchette, sous-titré par décomposition par pilier.</a:t>
            </a:r>
          </a:p>
          <a:p/>
          <a:p>
            <a:r>
              <a:t>TAKEAWAY ATTENDU:</a:t>
            </a:r>
          </a:p>
          <a:p>
            <a:r>
              <a:t>Fournir le chiffre-référence que tout le monde citera, avec une fourchette honnête plutôt qu'un nombre précis. Décomposer plutôt que donner un chiffre unique.</a:t>
            </a:r>
          </a:p>
          <a:p/>
          <a:p>
            <a:r>
              <a:t>CAVEATS:</a:t>
            </a:r>
          </a:p>
          <a:p>
            <a:r>
              <a:t>Compagnies CBCA sous-détectées. Compagnies sans description ou site web sous-détectées.</a:t>
            </a:r>
          </a:p>
          <a:p/>
          <a:p>
            <a:r>
              <a:t>STATUS: Analyse à étendre — existant couvre photonique+matériel adjacent; inclure quantique, robotique, spatial, matériaux, biotech-hw.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Répartition par pilier</a:t>
            </a:r>
          </a:p>
          <a:p/>
          <a:p>
            <a:r>
              <a:t>QUESTION ANALYTIQUE:</a:t>
            </a:r>
          </a:p>
          <a:p>
            <a:r>
              <a:t>Comment se répartit cet univers entre les 9 piliers deep-tech ?</a:t>
            </a:r>
          </a:p>
          <a:p/>
          <a:p>
            <a:r>
              <a:t>DONNÉES / SOURCES:</a:t>
            </a:r>
          </a:p>
          <a:p>
            <a:r>
              <a:t>SILVER.REQ_PRODUCT_CLASSIFICATION.MATCHED_SIGNALS — compter par token. Validation manuelle sur échantillon par bucket.</a:t>
            </a:r>
          </a:p>
          <a:p/>
          <a:p>
            <a:r>
              <a:t>VISUEL (PLACEHOLDER):</a:t>
            </a:r>
          </a:p>
          <a:p>
            <a:r>
              <a:t>Barres horizontales triées décroissant, ou treemap respectant la hiérarchie mère-fille de la taxonomie.</a:t>
            </a:r>
          </a:p>
          <a:p/>
          <a:p>
            <a:r>
              <a:t>TAKEAWAY ATTENDU:</a:t>
            </a:r>
          </a:p>
          <a:p>
            <a:r>
              <a:t>La photonique et le matériel adjacent dominent historiquement; quantique et robotique sont petits en volume mais croissent; spatial sous-représenté malgré anchors médiatisés.</a:t>
            </a:r>
          </a:p>
          <a:p/>
          <a:p>
            <a:r>
              <a:t>CAVEATS:</a:t>
            </a:r>
          </a:p>
          <a:p>
            <a:r>
              <a:t>Un NEQ peut matcher plusieurs tokens (biotech + medtech typique) — distinguer DISTINCT NEQ de total occurrences.</a:t>
            </a:r>
          </a:p>
          <a:p/>
          <a:p>
            <a:r>
              <a:t>STATUS: Partielle — Q5 couvre post-2024; rétrospectif long à produire.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Concentration géographique</a:t>
            </a:r>
          </a:p>
          <a:p/>
          <a:p>
            <a:r>
              <a:t>QUESTION ANALYTIQUE:</a:t>
            </a:r>
          </a:p>
          <a:p>
            <a:r>
              <a:t>Où sont concentrées ces compagnies au Québec ?</a:t>
            </a:r>
          </a:p>
          <a:p/>
          <a:p>
            <a:r>
              <a:t>DONNÉES / SOURCES:</a:t>
            </a:r>
          </a:p>
          <a:p>
            <a:r>
              <a:t>SILVER.REQ_PRODUCT_CLASSIFICATION.HQ_CITY (extrait regex d'adresse REQ). Agrégation par RMR via taxonomy/geographies.yaml.</a:t>
            </a:r>
          </a:p>
          <a:p/>
          <a:p>
            <a:r>
              <a:t>VISUEL (PLACEHOLDER):</a:t>
            </a:r>
          </a:p>
          <a:p>
            <a:r>
              <a:t>Carte choroplèthe du Québec colorée par densité + overlay des institutions-phares (INO Québec, universités MTL/SHE).</a:t>
            </a:r>
          </a:p>
          <a:p/>
          <a:p>
            <a:r>
              <a:t>TAKEAWAY ATTENDU:</a:t>
            </a:r>
          </a:p>
          <a:p>
            <a:r>
              <a:t>Grand Montréal domine en volume; Grand Québec a probablement la plus forte densité relative en photonique grâce à l'INO et Laval.</a:t>
            </a:r>
          </a:p>
          <a:p/>
          <a:p>
            <a:r>
              <a:t>CAVEATS:</a:t>
            </a:r>
          </a:p>
          <a:p>
            <a:r>
              <a:t>Extraction HQ_CITY par regex = bruitée; 'unknown' non-négligeable.</a:t>
            </a:r>
          </a:p>
          <a:p/>
          <a:p>
            <a:r>
              <a:t>STATUS: Données prêtes; viz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Pyramide d'âge</a:t>
            </a:r>
          </a:p>
          <a:p/>
          <a:p>
            <a:r>
              <a:t>QUESTION ANALYTIQUE:</a:t>
            </a:r>
          </a:p>
          <a:p>
            <a:r>
              <a:t>La population deep-tech québécoise est-elle neuve, mature, ou mixte ?</a:t>
            </a:r>
          </a:p>
          <a:p/>
          <a:p>
            <a:r>
              <a:t>DONNÉES / SOURCES:</a:t>
            </a:r>
          </a:p>
          <a:p>
            <a:r>
              <a:t>INCORPORATION_YEAR avec buckets 2026, 2020–2025, 2010–2019, 2000–2009, &lt;2000.</a:t>
            </a:r>
          </a:p>
          <a:p/>
          <a:p>
            <a:r>
              <a:t>VISUEL (PLACEHOLDER):</a:t>
            </a:r>
          </a:p>
          <a:p>
            <a:r>
              <a:t>Histogramme par année d'incorporation avec ligne moyenne/médiane; superposition software/AI pour contraste si pertinent.</a:t>
            </a:r>
          </a:p>
          <a:p/>
          <a:p>
            <a:r>
              <a:t>TAKEAWAY ATTENDU:</a:t>
            </a:r>
          </a:p>
          <a:p>
            <a:r>
              <a:t>Pyramide probablement plus aplatie que software — moins de création annuelle mais plus de maturité historique.</a:t>
            </a:r>
          </a:p>
          <a:p/>
          <a:p>
            <a:r>
              <a:t>CAVEATS:</a:t>
            </a:r>
          </a:p>
          <a:p>
            <a:r>
              <a:t>INCORPORATION_YEAR = année légale, pas nécessairement début d'activité commerciale. Pas d'info cessation d'activité.</a:t>
            </a:r>
          </a:p>
          <a:p/>
          <a:p>
            <a:r>
              <a:t>STATUS: Données prêtes; analyse simple à lancer.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Distribution par taille d'employés</a:t>
            </a:r>
          </a:p>
          <a:p/>
          <a:p>
            <a:r>
              <a:t>QUESTION ANALYTIQUE:</a:t>
            </a:r>
          </a:p>
          <a:p>
            <a:r>
              <a:t>Quelle est la taille typique d'une compagnie deep-tech québécoise ?</a:t>
            </a:r>
          </a:p>
          <a:p/>
          <a:p>
            <a:r>
              <a:t>DONNÉES / SOURCES:</a:t>
            </a:r>
          </a:p>
          <a:p>
            <a:r>
              <a:t>N_EMPLOYES et EMP_MIN numérique. Buckets REQ : 1–5, 6–10, 11–20, 21–50, 51–100, 101–250, 251–500, 501+.</a:t>
            </a:r>
          </a:p>
          <a:p/>
          <a:p>
            <a:r>
              <a:t>VISUEL (PLACEHOLDER):</a:t>
            </a:r>
          </a:p>
          <a:p>
            <a:r>
              <a:t>Pyramide ou bar chart des tranches d'employés, couleur par pilier si lisible.</a:t>
            </a:r>
          </a:p>
          <a:p/>
          <a:p>
            <a:r>
              <a:t>TAKEAWAY ATTENDU:</a:t>
            </a:r>
          </a:p>
          <a:p>
            <a:r>
              <a:t>Queue longue à droite — beaucoup de petites (1–20), peu au-dessus de 250. Scaling gap visible dès les effectifs.</a:t>
            </a:r>
          </a:p>
          <a:p/>
          <a:p>
            <a:r>
              <a:t>CAVEATS:</a:t>
            </a:r>
          </a:p>
          <a:p>
            <a:r>
              <a:t>Tranches autodéclarées à l'inscription, non mises à jour en temps réel. 'Non déclaré' = bucket significatif.</a:t>
            </a:r>
          </a:p>
          <a:p/>
          <a:p>
            <a:r>
              <a:t>STATUS: Données prêtes.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Modèle d'affaires (B2B / B2C / B2G)</a:t>
            </a:r>
          </a:p>
          <a:p/>
          <a:p>
            <a:r>
              <a:t>QUESTION ANALYTIQUE:</a:t>
            </a:r>
          </a:p>
          <a:p>
            <a:r>
              <a:t>Quelle est la distribution B2B / B2C / B2G chez les deep-tech québécoises ?</a:t>
            </a:r>
          </a:p>
          <a:p/>
          <a:p>
            <a:r>
              <a:t>DONNÉES / SOURCES:</a:t>
            </a:r>
          </a:p>
          <a:p>
            <a:r>
              <a:t>shared_ecosystem.qt_schema.companies.b2b_b2c (via Dealroom) + compléments manuels top 50 via sites web et LinkedIn.</a:t>
            </a:r>
          </a:p>
          <a:p/>
          <a:p>
            <a:r>
              <a:t>VISUEL (PLACEHOLDER):</a:t>
            </a:r>
          </a:p>
          <a:p>
            <a:r>
              <a:t>Donut 3 segments ou 100 % stacked bar par pilier.</a:t>
            </a:r>
          </a:p>
          <a:p/>
          <a:p>
            <a:r>
              <a:t>TAKEAWAY ATTENDU:</a:t>
            </a:r>
          </a:p>
          <a:p>
            <a:r>
              <a:t>Hard tech est massivement B2B ou B2G. Très peu de B2C pur. Contraste avec software consumer; cycles de vente longs.</a:t>
            </a:r>
          </a:p>
          <a:p/>
          <a:p>
            <a:r>
              <a:t>CAVEATS:</a:t>
            </a:r>
          </a:p>
          <a:p>
            <a:r>
              <a:t>Couverture Dealroom variable sur deep-tech. Beaucoup de small-scale n'ont pas de champ b2b_b2c renseigné.</a:t>
            </a:r>
          </a:p>
          <a:p/>
          <a:p>
            <a:r>
              <a:t>STATUS: Partielles; couverture Dealroom à quantifier.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Phares établis (anchors)</a:t>
            </a:r>
          </a:p>
          <a:p/>
          <a:p>
            <a:r>
              <a:t>QUESTION ANALYTIQUE:</a:t>
            </a:r>
          </a:p>
          <a:p>
            <a:r>
              <a:t>Quelles compagnies établies servent de 'bordure' à l'écosystème et autour desquelles gravite la formation neuve ?</a:t>
            </a:r>
          </a:p>
          <a:p/>
          <a:p>
            <a:r>
              <a:t>DONNÉES / SOURCES:</a:t>
            </a:r>
          </a:p>
          <a:p>
            <a:r>
              <a:t>Listes publiques seulement : EXFO, Coherent/II-VI ex-MPB (2021), MDA, CAE, Lion Electric, Nord Quantique, Kitco, AddÉnergie, GHGSat. Annonces médiatisées, sites web.</a:t>
            </a:r>
          </a:p>
          <a:p/>
          <a:p>
            <a:r>
              <a:t>VISUEL (PLACEHOLDER):</a:t>
            </a:r>
          </a:p>
          <a:p>
            <a:r>
              <a:t>Tableau ou logos mosaïque organisé par pilier, avec année de fondation, HQ, statut (privé / public / acquis).</a:t>
            </a:r>
          </a:p>
          <a:p/>
          <a:p>
            <a:r>
              <a:t>TAKEAWAY ATTENDU:</a:t>
            </a:r>
          </a:p>
          <a:p>
            <a:r>
              <a:t>Documenter la 'gravité' institutionnelle — le Québec a des anchors crédibles dans plusieurs verticales, atout pour spinoffs.</a:t>
            </a:r>
          </a:p>
          <a:p/>
          <a:p>
            <a:r>
              <a:t>CAVEATS:</a:t>
            </a:r>
          </a:p>
          <a:p>
            <a:r>
              <a:t>Inclure uniquement ce qui est vérifiable publiquement. 15–25 noms max.</a:t>
            </a:r>
          </a:p>
          <a:p/>
          <a:p>
            <a:r>
              <a:t>STATUS: Liste à construire — validation QT sur qui inclure.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Taux de formation trimestriel 2017–2026</a:t>
            </a:r>
          </a:p>
          <a:p/>
          <a:p>
            <a:r>
              <a:t>QUESTION ANALYTIQUE:</a:t>
            </a:r>
          </a:p>
          <a:p>
            <a:r>
              <a:t>Comment a évolué le rythme d'incorporation de compagnies deep-tech au Québec sur une décennie ?</a:t>
            </a:r>
          </a:p>
          <a:p/>
          <a:p>
            <a:r>
              <a:t>DONNÉES / SOURCES:</a:t>
            </a:r>
          </a:p>
          <a:p>
            <a:r>
              <a:t>SILVER.REQ_PRODUCT_CLASSIFICATION filtré DEEPTECH, groupé par DATE_TRUNC('quarter', DATE_IMMATRICULATION). L'analyse existante donne : pré-COVID 12.1/q → COVID 15.1/q → post-CHIPS 11.3/q → 2024 12.2/q → 2025–2026 18.2/q.</a:t>
            </a:r>
          </a:p>
          <a:p/>
          <a:p>
            <a:r>
              <a:t>VISUEL (PLACEHOLDER):</a:t>
            </a:r>
          </a:p>
          <a:p>
            <a:r>
              <a:t>Ligne trimestrielle avec 4 zones ombrées (pré-COVID, COVID, post-CHIPS, récent) et annotations d'événements-clés.</a:t>
            </a:r>
          </a:p>
          <a:p/>
          <a:p>
            <a:r>
              <a:t>TAKEAWAY ATTENDU:</a:t>
            </a:r>
          </a:p>
          <a:p>
            <a:r>
              <a:t>Soubresaut récent (~50 % au-dessus de la baseline pré-COVID) mais petits volumes absolus. Confidence: Low (MSG-HARDTECH-01).</a:t>
            </a:r>
          </a:p>
          <a:p/>
          <a:p>
            <a:r>
              <a:t>CAVEATS:</a:t>
            </a:r>
          </a:p>
          <a:p>
            <a:r>
              <a:t>Échantillons trimestriels à un chiffre pour sous-secteurs. 73 % via CAE seulement.</a:t>
            </a:r>
          </a:p>
          <a:p/>
          <a:p>
            <a:r>
              <a:t>STATUS: Viz existante en draft; à élargir au DEEPTECH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Le soubresaut 2025 — signal ou bruit ?</a:t>
            </a:r>
          </a:p>
          <a:p/>
          <a:p>
            <a:r>
              <a:t>QUESTION ANALYTIQUE:</a:t>
            </a:r>
          </a:p>
          <a:p>
            <a:r>
              <a:t>Le pic apparent 2025–début 2026 est-il statistiquement robuste ou un artéfact de petit échantillon ?</a:t>
            </a:r>
          </a:p>
          <a:p/>
          <a:p>
            <a:r>
              <a:t>DONNÉES / SOURCES:</a:t>
            </a:r>
          </a:p>
          <a:p>
            <a:r>
              <a:t>Même source que slide précédente. Test : retirer 3–4 incorporations du trimestre pic et voir si la tendance tient. Cross-ref MEDTEQ+, INO si accès.</a:t>
            </a:r>
          </a:p>
          <a:p/>
          <a:p>
            <a:r>
              <a:t>VISUEL (PLACEHOLDER):</a:t>
            </a:r>
          </a:p>
          <a:p>
            <a:r>
              <a:t>Zoom sur 2024–2026 avec bandes de confiance (bootstrap rough), annotation 'en l'absence de X incorporations, la tendance disparaît'.</a:t>
            </a:r>
          </a:p>
          <a:p/>
          <a:p>
            <a:r>
              <a:t>TAKEAWAY ATTENDU:</a:t>
            </a:r>
          </a:p>
          <a:p>
            <a:r>
              <a:t>Honnêteté : à monitorer, pas à publier comme fait. Signal probable mais requiert 3–4 trimestres additionnels.</a:t>
            </a:r>
          </a:p>
          <a:p/>
          <a:p>
            <a:r>
              <a:t>CAVEATS:</a:t>
            </a:r>
          </a:p>
          <a:p>
            <a:r>
              <a:t>Reprendre mot à mot la mise en garde MSG-HARDTECH-01.</a:t>
            </a:r>
          </a:p>
          <a:p/>
          <a:p>
            <a:r>
              <a:t>STATUS: Analyse à faire; calcul de sensibilité simple.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Photonique pure vs matériel adjacent</a:t>
            </a:r>
          </a:p>
          <a:p/>
          <a:p>
            <a:r>
              <a:t>QUESTION ANALYTIQUE:</a:t>
            </a:r>
          </a:p>
          <a:p>
            <a:r>
              <a:t>La photonique québécoise, avec sa base institutionnelle (INO), génère-t-elle des nouvelles compagnies, ou la croissance vient-elle d'ailleurs ?</a:t>
            </a:r>
          </a:p>
          <a:p/>
          <a:p>
            <a:r>
              <a:t>DONNÉES / SOURCES:</a:t>
            </a:r>
          </a:p>
          <a:p>
            <a:r>
              <a:t>Analyse existante : photonique pure flat ~2.0–2.2/q 2017–2026; croissance dans optique/imagerie (7/q en 2025) et matériel adjacent (9/q en 2025).</a:t>
            </a:r>
          </a:p>
          <a:p/>
          <a:p>
            <a:r>
              <a:t>VISUEL (PLACEHOLDER):</a:t>
            </a:r>
          </a:p>
          <a:p>
            <a:r>
              <a:t>3 lignes superposées : photonique core, optique/imagerie, matériel adjacent. Temps sur X, formation/trimestre sur Y.</a:t>
            </a:r>
          </a:p>
          <a:p/>
          <a:p>
            <a:r>
              <a:t>TAKEAWAY ATTENDU:</a:t>
            </a:r>
          </a:p>
          <a:p>
            <a:r>
              <a:t>La photonique pure est plate malgré l'INO, EXFO, etc. La base institutionnelle ne génère PAS la vague de spinoffs qu'on attendrait — à creuser.</a:t>
            </a:r>
          </a:p>
          <a:p/>
          <a:p>
            <a:r>
              <a:t>CAVEATS:</a:t>
            </a:r>
          </a:p>
          <a:p>
            <a:r>
              <a:t>MSG-HARDTECH-02 (Confidence: Medium). Classification sous-catégorie repose sur MATCHED_SIGNALS.</a:t>
            </a:r>
          </a:p>
          <a:p/>
          <a:p>
            <a:r>
              <a:t>STATUS: Analyse existante; à élargir DEEPTECH complet.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La cohorte post-2024</a:t>
            </a:r>
          </a:p>
          <a:p/>
          <a:p>
            <a:r>
              <a:t>QUESTION ANALYTIQUE:</a:t>
            </a:r>
          </a:p>
          <a:p>
            <a:r>
              <a:t>Qui sont les nouveaux entrants hard-tech post-2024, et sont-ils prometteurs (HIGH) ou bruit (LOW CAE-only) ?</a:t>
            </a:r>
          </a:p>
          <a:p/>
          <a:p>
            <a:r>
              <a:t>DONNÉES / SOURCES:</a:t>
            </a:r>
          </a:p>
          <a:p>
            <a:r>
              <a:t>Q5 diagnostic (pipelines/validation/diagnostics/Q5_req_post2024_hardtech.sql) déjà écrit. Sections 4–5 : décomposition par sous-catégorie et tier de confiance.</a:t>
            </a:r>
          </a:p>
          <a:p/>
          <a:p>
            <a:r>
              <a:t>VISUEL (PLACEHOLDER):</a:t>
            </a:r>
          </a:p>
          <a:p>
            <a:r>
              <a:t>Tableau des nouveaux entrants par pilier × confiance (HIGH / MEDIUM / LOW), top 10 HIGH listés nommément si publiquement visibles.</a:t>
            </a:r>
          </a:p>
          <a:p/>
          <a:p>
            <a:r>
              <a:t>TAKEAWAY ATTENDU:</a:t>
            </a:r>
          </a:p>
          <a:p>
            <a:r>
              <a:t>La cohorte post-2024 penche vers HIGH-confidence quantique et robotique. Donner un chiffre 'propre' et un chiffre 'brut' pour montrer la marge d'incertitude.</a:t>
            </a:r>
          </a:p>
          <a:p/>
          <a:p>
            <a:r>
              <a:t>CAVEATS:</a:t>
            </a:r>
          </a:p>
          <a:p>
            <a:r>
              <a:t>Q5 dépend de SILVER.REQ_PRODUCT_CLASSIFICATION rafraîchi dans Snowflake. Top 50 HIGH à valider manuellement avant citation.</a:t>
            </a:r>
          </a:p>
          <a:p/>
          <a:p>
            <a:r>
              <a:t>STATUS: SQL prêt; rouler dans Snowsight et trier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Contraste software vs hard-tech post-GenAI</a:t>
            </a:r>
          </a:p>
          <a:p/>
          <a:p>
            <a:r>
              <a:t>QUESTION ANALYTIQUE:</a:t>
            </a:r>
          </a:p>
          <a:p>
            <a:r>
              <a:t>Le boom GenAI 2023–2025 a-t-il entraîné le hard-tech, ou creusé l'écart ?</a:t>
            </a:r>
          </a:p>
          <a:p/>
          <a:p>
            <a:r>
              <a:t>DONNÉES / SOURCES:</a:t>
            </a:r>
          </a:p>
          <a:p>
            <a:r>
              <a:t>Comparaison taux de formation software-AI vs deep-tech. Analyse existante INTERNAL-genai-impact-req-2026 : création tech-product × 2.2 depuis 2022 (software) vs hardware plat.</a:t>
            </a:r>
          </a:p>
          <a:p/>
          <a:p>
            <a:r>
              <a:t>VISUEL (PLACEHOLDER):</a:t>
            </a:r>
          </a:p>
          <a:p>
            <a:r>
              <a:t>2 lignes indexées à 100 en 2017 : software-AI et hard-tech. Évolution claire de l'écart.</a:t>
            </a:r>
          </a:p>
          <a:p/>
          <a:p>
            <a:r>
              <a:t>TAKEAWAY ATTENDU:</a:t>
            </a:r>
          </a:p>
          <a:p>
            <a:r>
              <a:t>Le vent GenAI n'a pas porté le hard-tech. Divergence structurelle qui justifie des instruments de politique publique DÉDIÉS. Message-pivot du rapport.</a:t>
            </a:r>
          </a:p>
          <a:p/>
          <a:p>
            <a:r>
              <a:t>CAVEATS:</a:t>
            </a:r>
          </a:p>
          <a:p>
            <a:r>
              <a:t>Classification software-AI a ses propres bruits.</a:t>
            </a:r>
          </a:p>
          <a:p/>
          <a:p>
            <a:r>
              <a:t>STATUS: Analyse existante partielle; à formuler clairement la comparaison.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Financement hard-tech au Québec</a:t>
            </a:r>
          </a:p>
          <a:p/>
          <a:p>
            <a:r>
              <a:t>QUESTION ANALYTIQUE:</a:t>
            </a:r>
          </a:p>
          <a:p>
            <a:r>
              <a:t>Quel volume et quels montants de capital vont au hard-tech québécois, vs software ?</a:t>
            </a:r>
          </a:p>
          <a:p/>
          <a:p>
            <a:r>
              <a:t>DONNÉES / SOURCES:</a:t>
            </a:r>
          </a:p>
          <a:p>
            <a:r>
              <a:t>PitchBook/CVCA via RC — AGRÉGATS SEULEMENT (gouvernance). Dealroom funding QC deep-tech. Annonces publiques cross-référencées.</a:t>
            </a:r>
          </a:p>
          <a:p/>
          <a:p>
            <a:r>
              <a:t>VISUEL (PLACEHOLDER):</a:t>
            </a:r>
          </a:p>
          <a:p>
            <a:r>
              <a:t>Deux histogrammes empilés côte-à-côte : 'Software-AI' vs 'Hard-tech' pour deals et montants. Timeline 2020–2025.</a:t>
            </a:r>
          </a:p>
          <a:p/>
          <a:p>
            <a:r>
              <a:t>TAKEAWAY ATTENDU:</a:t>
            </a:r>
          </a:p>
          <a:p>
            <a:r>
              <a:t>Hard-tech reçoit fraction disproportionnellement petite du capital levé, deals plus rares mais plus gros en moyenne.</a:t>
            </a:r>
          </a:p>
          <a:p/>
          <a:p>
            <a:r>
              <a:t>CAVEATS:</a:t>
            </a:r>
          </a:p>
          <a:p>
            <a:r>
              <a:t>Source licenciée → agrégats seulement. Accord RC BLOQUANT.</a:t>
            </a:r>
          </a:p>
          <a:p/>
          <a:p>
            <a:r>
              <a:t>STATUS: BLOQUANT sur accord RC. Rédiger demande formelle.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Sorties notables</a:t>
            </a:r>
          </a:p>
          <a:p/>
          <a:p>
            <a:r>
              <a:t>QUESTION ANALYTIQUE:</a:t>
            </a:r>
          </a:p>
          <a:p>
            <a:r>
              <a:t>Quelles acquisitions et IPOs ont marqué le hard-tech québécois sur la dernière décennie ?</a:t>
            </a:r>
          </a:p>
          <a:p/>
          <a:p>
            <a:r>
              <a:t>DONNÉES / SOURCES:</a:t>
            </a:r>
          </a:p>
          <a:p>
            <a:r>
              <a:t>Annonces publiques (Bloomberg, communiqués, presse spécialisée) — sources publiques uniquement. PitchBook exits pour vérification si accord RC.</a:t>
            </a:r>
          </a:p>
          <a:p/>
          <a:p>
            <a:r>
              <a:t>VISUEL (PLACEHOLDER):</a:t>
            </a:r>
          </a:p>
          <a:p>
            <a:r>
              <a:t>Timeline horizontale avec 8–15 sorties marquantes, taille des bulles = valeur si publique.</a:t>
            </a:r>
          </a:p>
          <a:p/>
          <a:p>
            <a:r>
              <a:t>TAKEAWAY ATTENDU:</a:t>
            </a:r>
          </a:p>
          <a:p>
            <a:r>
              <a:t>Quelques sorties significatives dominées par acquisitions par stratégiques US. Peu d'IPOs. Sortie canadienne/québécoise rare → implication écosystème risque.</a:t>
            </a:r>
          </a:p>
          <a:p/>
          <a:p>
            <a:r>
              <a:t>CAVEATS:</a:t>
            </a:r>
          </a:p>
          <a:p>
            <a:r>
              <a:t>Sorties privées non annoncées hors tableau. Valeurs souvent non divulguées.</a:t>
            </a:r>
          </a:p>
          <a:p/>
          <a:p>
            <a:r>
              <a:t>STATUS: Liste à bâtir depuis sources publiques.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Trajectoires par pilier</a:t>
            </a:r>
          </a:p>
          <a:p/>
          <a:p>
            <a:r>
              <a:t>QUESTION ANALYTIQUE:</a:t>
            </a:r>
          </a:p>
          <a:p>
            <a:r>
              <a:t>Quels piliers deep-tech montent, stagnent, ou reculent ?</a:t>
            </a:r>
          </a:p>
          <a:p/>
          <a:p>
            <a:r>
              <a:t>DONNÉES / SOURCES:</a:t>
            </a:r>
          </a:p>
          <a:p>
            <a:r>
              <a:t>Time-series de formation par pilier (9). Optionnel : croisement avec données de financement.</a:t>
            </a:r>
          </a:p>
          <a:p/>
          <a:p>
            <a:r>
              <a:t>VISUEL (PLACEHOLDER):</a:t>
            </a:r>
          </a:p>
          <a:p>
            <a:r>
              <a:t>Small multiples — 9 mini-lignes en grille 3×3, normalisées, avec badge '↑ / → / ↓'.</a:t>
            </a:r>
          </a:p>
          <a:p/>
          <a:p>
            <a:r>
              <a:t>TAKEAWAY ATTENDU:</a:t>
            </a:r>
          </a:p>
          <a:p>
            <a:r>
              <a:t>Carte synthétique des dynamiques — quantique et robotique montent, photonique plate, semi quasi-inexistant, spatial stable. Oriente sections 6 et 7.</a:t>
            </a:r>
          </a:p>
          <a:p/>
          <a:p>
            <a:r>
              <a:t>CAVEATS:</a:t>
            </a:r>
          </a:p>
          <a:p>
            <a:r>
              <a:t>Petits échantillons par pilier — traiter comme qualitatif plutôt que précis.</a:t>
            </a:r>
          </a:p>
          <a:p/>
          <a:p>
            <a:r>
              <a:t>STATUS: Analyse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Institutions de recherche et de transfert</a:t>
            </a:r>
          </a:p>
          <a:p/>
          <a:p>
            <a:r>
              <a:t>QUESTION ANALYTIQUE:</a:t>
            </a:r>
          </a:p>
          <a:p>
            <a:r>
              <a:t>Quelle est la base institutionnelle sur laquelle s'appuie le hard-tech québécois ?</a:t>
            </a:r>
          </a:p>
          <a:p/>
          <a:p>
            <a:r>
              <a:t>DONNÉES / SOURCES:</a:t>
            </a:r>
          </a:p>
          <a:p>
            <a:r>
              <a:t>Publiques : INO, MEDTEQ+, Écotech Québec, IVADO, Mila, Institut Quantique (Sherbrooke), PINQ² (Bromont), Prompt, CRIQ, CNRC Boucherville. Listes de membres si accord.</a:t>
            </a:r>
          </a:p>
          <a:p/>
          <a:p>
            <a:r>
              <a:t>VISUEL (PLACEHOLDER):</a:t>
            </a:r>
          </a:p>
          <a:p>
            <a:r>
              <a:t>Carte géographique QC avec institutions positionnées, taille proportionnelle à budget/effectifs publics.</a:t>
            </a:r>
          </a:p>
          <a:p/>
          <a:p>
            <a:r>
              <a:t>TAKEAWAY ATTENDU:</a:t>
            </a:r>
          </a:p>
          <a:p>
            <a:r>
              <a:t>Base institutionnelle dense et géographiquement distribuée (Québec-MTL-Sherbrooke-Bromont). Peu d'écosystèmes canadiens ont autant d'infrastructures.</a:t>
            </a:r>
          </a:p>
          <a:p/>
          <a:p>
            <a:r>
              <a:t>CAVEATS:</a:t>
            </a:r>
          </a:p>
          <a:p>
            <a:r>
              <a:t>Budget/effectifs publics quand divulgués; sinon qualitatif.</a:t>
            </a:r>
          </a:p>
          <a:p/>
          <a:p>
            <a:r>
              <a:t>STATUS: Texte prêt; viz carte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Financement public et non-dilutif</a:t>
            </a:r>
          </a:p>
          <a:p/>
          <a:p>
            <a:r>
              <a:t>QUESTION ANALYTIQUE:</a:t>
            </a:r>
          </a:p>
          <a:p>
            <a:r>
              <a:t>Quels instruments publics soutiennent le hard-tech ? Lesquels sont lisibles par des opérateurs ?</a:t>
            </a:r>
          </a:p>
          <a:p/>
          <a:p>
            <a:r>
              <a:t>DONNÉES / SOURCES:</a:t>
            </a:r>
          </a:p>
          <a:p>
            <a:r>
              <a:t>Publiques : SR&amp;ED, PARI/IRAP, programmes MEIE, MITACS, FRQNT, Investissement Québec, Canada SIF, Stratégie quantique, CanExport. MEIE rapport.</a:t>
            </a:r>
          </a:p>
          <a:p/>
          <a:p>
            <a:r>
              <a:t>VISUEL (PLACEHOLDER):</a:t>
            </a:r>
          </a:p>
          <a:p>
            <a:r>
              <a:t>Tableau matriciel 'instrument × stade × pilier applicable' avec codage couleur lisibilité/pertinence.</a:t>
            </a:r>
          </a:p>
          <a:p/>
          <a:p>
            <a:r>
              <a:t>TAKEAWAY ATTENDU:</a:t>
            </a:r>
          </a:p>
          <a:p>
            <a:r>
              <a:t>Beaucoup d'instruments, mais lisibilité et coordination déficientes. Pas d'équivalent CHIPS Act — lacune structurelle.</a:t>
            </a:r>
          </a:p>
          <a:p/>
          <a:p>
            <a:r>
              <a:t>CAVEATS:</a:t>
            </a:r>
          </a:p>
          <a:p>
            <a:r>
              <a:t>Informations datent vite (budgets fédéraux changent) — dater la slide.</a:t>
            </a:r>
          </a:p>
          <a:p/>
          <a:p>
            <a:r>
              <a:t>STATUS: Inventaire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Investisseurs privés actifs en hard-tech</a:t>
            </a:r>
          </a:p>
          <a:p/>
          <a:p>
            <a:r>
              <a:t>QUESTION ANALYTIQUE:</a:t>
            </a:r>
          </a:p>
          <a:p>
            <a:r>
              <a:t>Quels fonds VC / PE investissent dans le hard-tech québécois ? Lacunes à certains stades ?</a:t>
            </a:r>
          </a:p>
          <a:p/>
          <a:p>
            <a:r>
              <a:t>DONNÉES / SOURCES:</a:t>
            </a:r>
          </a:p>
          <a:p>
            <a:r>
              <a:t>PitchBook/CVCA via RC — agrégats. Sites des fonds : Inovia, Real Ventures, Amplitude, BDC Capital, Investissement Québec, Fonds FTQ, Fondaction, CDPQ, Cycle Capital, Amorchem.</a:t>
            </a:r>
          </a:p>
          <a:p/>
          <a:p>
            <a:r>
              <a:t>VISUEL (PLACEHOLDER):</a:t>
            </a:r>
          </a:p>
          <a:p>
            <a:r>
              <a:t>Bar chart top 15 investisseurs par # deals hard-tech QC 2020–2025; annotation du stade.</a:t>
            </a:r>
          </a:p>
          <a:p/>
          <a:p>
            <a:r>
              <a:t>TAKEAWAY ATTENDU:</a:t>
            </a:r>
          </a:p>
          <a:p>
            <a:r>
              <a:t>Capital seed disponible, capital scale-up (Série B+) rare et souvent étranger. Goulot classique canadien.</a:t>
            </a:r>
          </a:p>
          <a:p/>
          <a:p>
            <a:r>
              <a:t>CAVEATS:</a:t>
            </a:r>
          </a:p>
          <a:p>
            <a:r>
              <a:t>Licensed → agrégats seulement. 'Actif' = au moins N deals — seuil à justifier.</a:t>
            </a:r>
          </a:p>
          <a:p/>
          <a:p>
            <a:r>
              <a:t>STATUS: BLOQUANT sur accord 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Accélérateurs et incubateurs à orientation hard-tech</a:t>
            </a:r>
          </a:p>
          <a:p/>
          <a:p>
            <a:r>
              <a:t>QUESTION ANALYTIQUE:</a:t>
            </a:r>
          </a:p>
          <a:p>
            <a:r>
              <a:t>Quels programmes québécois ont une spécialisation ou une ouverture réelle au hard-tech ?</a:t>
            </a:r>
          </a:p>
          <a:p/>
          <a:p>
            <a:r>
              <a:t>DONNÉES / SOURCES:</a:t>
            </a:r>
          </a:p>
          <a:p>
            <a:r>
              <a:t>Listes publiques : Centech (Polytechnique), District 3 (Concordia), TandemLaunch, Cycle Momentum, MEDTEQ+, Prompt. Cohortes récentes (sites web).</a:t>
            </a:r>
          </a:p>
          <a:p/>
          <a:p>
            <a:r>
              <a:t>VISUEL (PLACEHOLDER):</a:t>
            </a:r>
          </a:p>
          <a:p>
            <a:r>
              <a:t>Tableau : nom / affiliation / cohorte/an / verticale / stade / exemple de diplômé hard-tech.</a:t>
            </a:r>
          </a:p>
          <a:p/>
          <a:p>
            <a:r>
              <a:t>TAKEAWAY ATTENDU:</a:t>
            </a:r>
          </a:p>
          <a:p>
            <a:r>
              <a:t>Quelques programmes solides (Centech, TandemLaunch, MEDTEQ+), mais écosystème accélération plus tourné vers software.</a:t>
            </a:r>
          </a:p>
          <a:p/>
          <a:p>
            <a:r>
              <a:t>CAVEATS:</a:t>
            </a:r>
          </a:p>
          <a:p>
            <a:r>
              <a:t>Cohortes varient; données 2024–2025 partielles.</a:t>
            </a:r>
          </a:p>
          <a:p/>
          <a:p>
            <a:r>
              <a:t>STATUS: Inventaire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Universités et spinoffs</a:t>
            </a:r>
          </a:p>
          <a:p/>
          <a:p>
            <a:r>
              <a:t>QUESTION ANALYTIQUE:</a:t>
            </a:r>
          </a:p>
          <a:p>
            <a:r>
              <a:t>Les universités QC génèrent-elles des spinoffs hard-tech à un rythme compétitif ?</a:t>
            </a:r>
          </a:p>
          <a:p/>
          <a:p>
            <a:r>
              <a:t>DONNÉES / SOURCES:</a:t>
            </a:r>
          </a:p>
          <a:p>
            <a:r>
              <a:t>Bureaux de transfert (Univalor, SOVAR, Aligo) — rapports annuels. Listes de spinoffs universitaires (Sherbrooke publique). Cross-ref REQ via nom/adresse/fondateur.</a:t>
            </a:r>
          </a:p>
          <a:p/>
          <a:p>
            <a:r>
              <a:t>VISUEL (PLACEHOLDER):</a:t>
            </a:r>
          </a:p>
          <a:p>
            <a:r>
              <a:t>Barres horizontales par université : spinoffs hard-tech 2015–2025, avec ratio sur budget recherche.</a:t>
            </a:r>
          </a:p>
          <a:p/>
          <a:p>
            <a:r>
              <a:t>TAKEAWAY ATTENDU:</a:t>
            </a:r>
          </a:p>
          <a:p>
            <a:r>
              <a:t>Sherbrooke punches above its weight en quantique. McGill forte en photonique/semi. Polytechnique + UdeM forts en robotique/aéro. Conversion recherche → compagnies sous-optimale.</a:t>
            </a:r>
          </a:p>
          <a:p/>
          <a:p>
            <a:r>
              <a:t>CAVEATS:</a:t>
            </a:r>
          </a:p>
          <a:p>
            <a:r>
              <a:t>Données spinoffs non-normalisées entre universités. Federal CBCA spinoffs sous-détectés.</a:t>
            </a:r>
          </a:p>
          <a:p/>
          <a:p>
            <a:r>
              <a:t>STATUS: Données à collecter; lourd mais important.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Talent : ingénieurs, PhDs, opérateurs</a:t>
            </a:r>
          </a:p>
          <a:p/>
          <a:p>
            <a:r>
              <a:t>QUESTION ANALYTIQUE:</a:t>
            </a:r>
          </a:p>
          <a:p>
            <a:r>
              <a:t>Le bassin de talent hard-tech québécois est-il suffisant pour soutenir une accélération ?</a:t>
            </a:r>
          </a:p>
          <a:p/>
          <a:p>
            <a:r>
              <a:t>DONNÉES / SOURCES:</a:t>
            </a:r>
          </a:p>
          <a:p>
            <a:r>
              <a:t>StatCan ESCM/EAMT — diplômés STEM. Tableau MEIE sur talent. Rapports GSER/StartupBlink sur rang Québec.</a:t>
            </a:r>
          </a:p>
          <a:p/>
          <a:p>
            <a:r>
              <a:t>VISUEL (PLACEHOLDER):</a:t>
            </a:r>
          </a:p>
          <a:p>
            <a:r>
              <a:t>3 indicateurs : (1) diplômés STEM/an, (2) PhDs/an, (3) 'operators avec expérience scale-up hard-tech' (qualitatif).</a:t>
            </a:r>
          </a:p>
          <a:p/>
          <a:p>
            <a:r>
              <a:t>TAKEAWAY ATTENDU:</a:t>
            </a:r>
          </a:p>
          <a:p>
            <a:r>
              <a:t>Pool de diplômés solide. Opérateurs expérimentés (C-level hard-tech ayant vécu scale-up) rares — importation nécessaire, enjeu immigration.</a:t>
            </a:r>
          </a:p>
          <a:p/>
          <a:p>
            <a:r>
              <a:t>CAVEATS:</a:t>
            </a:r>
          </a:p>
          <a:p>
            <a:r>
              <a:t>Qualitatif pour la 3e métrique — reconnaître la limite.</a:t>
            </a:r>
          </a:p>
          <a:p/>
          <a:p>
            <a:r>
              <a:t>STATUS: Données publiques prêtes; qualitatif à argumenter.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Panorama des 8 benchmarks</a:t>
            </a:r>
          </a:p>
          <a:p/>
          <a:p>
            <a:r>
              <a:t>QUESTION ANALYTIQUE:</a:t>
            </a:r>
          </a:p>
          <a:p>
            <a:r>
              <a:t>Comment le Québec se positionne-t-il globalement face aux 8 régions de comparaison ?</a:t>
            </a:r>
          </a:p>
          <a:p/>
          <a:p>
            <a:r>
              <a:t>DONNÉES / SOURCES:</a:t>
            </a:r>
          </a:p>
          <a:p>
            <a:r>
              <a:t>GSER 2024–2025, StartupBlink Global 2025, OCDE R-D. Rapports nationaux : Vinnova (SE), Israel Innovation Authority, A*STAR (SG), KISTEP (KR), BMWK (DE), NSF (US), NCBR (PL), ISED+StatCan (CA).</a:t>
            </a:r>
          </a:p>
          <a:p/>
          <a:p>
            <a:r>
              <a:t>VISUEL (PLACEHOLDER):</a:t>
            </a:r>
          </a:p>
          <a:p>
            <a:r>
              <a:t>Grand tableau/heatmap 8 régions + QC × 6 indicateurs-clés — PIB/habitant, R-D privée %PIB, compagnies deep-tech/M hab, capital deep-tech par habitant, universités top-200, index politique industrielle.</a:t>
            </a:r>
          </a:p>
          <a:p/>
          <a:p>
            <a:r>
              <a:t>TAKEAWAY ATTENDU:</a:t>
            </a:r>
          </a:p>
          <a:p>
            <a:r>
              <a:t>Le QC a les ressources institutionnelles de rivaliser avec petits champions, mais volume de formation et capital sous le seuil critique. Position intermédiaire.</a:t>
            </a:r>
          </a:p>
          <a:p/>
          <a:p>
            <a:r>
              <a:t>CAVEATS:</a:t>
            </a:r>
          </a:p>
          <a:p>
            <a:r>
              <a:t>Définitions 'deep tech' varient par source. Recul 1–2 ans sur données nationales.</a:t>
            </a:r>
          </a:p>
          <a:p/>
          <a:p>
            <a:r>
              <a:t>STATUS: Collecte documentaire à lancer.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Petits champions deep-tech : Suède, Israël, Singapour</a:t>
            </a:r>
          </a:p>
          <a:p/>
          <a:p>
            <a:r>
              <a:t>QUESTION ANALYTIQUE:</a:t>
            </a:r>
          </a:p>
          <a:p>
            <a:r>
              <a:t>Que font ces 3 petites économies que le QC n'a pas encore fait, et qu'ont-elles en commun ?</a:t>
            </a:r>
          </a:p>
          <a:p/>
          <a:p>
            <a:r>
              <a:t>DONNÉES / SOURCES:</a:t>
            </a:r>
          </a:p>
          <a:p>
            <a:r>
              <a:t>SE : Vinnova, RISE, Chalmers Ventures, ancrages Ericsson/AstraZeneca. IL : IIA, Technion spinoffs, Yozma model, pipeline militaire→civil (8200). SG : A*STAR, NRF, SGInnovate, Temasek, ciblage top-down.</a:t>
            </a:r>
          </a:p>
          <a:p/>
          <a:p>
            <a:r>
              <a:t>VISUEL (PLACEHOLDER):</a:t>
            </a:r>
          </a:p>
          <a:p>
            <a:r>
              <a:t>3 colonnes parallèles — un 'portrait' par pays (compagnies, capital, instruments-phares, leçon). En bas : 'Ce que les 3 partagent.'</a:t>
            </a:r>
          </a:p>
          <a:p/>
          <a:p>
            <a:r>
              <a:t>TAKEAWAY ATTENDU:</a:t>
            </a:r>
          </a:p>
          <a:p>
            <a:r>
              <a:t>3 ingrédients communs : (1) anchors industriels forts, (2) capital public de CROISSANCE (pas seulement seed), (3) demande domestique captive (défense, santé, fonds souverain).</a:t>
            </a:r>
          </a:p>
          <a:p/>
          <a:p>
            <a:r>
              <a:t>CAVEATS:</a:t>
            </a:r>
          </a:p>
          <a:p>
            <a:r>
              <a:t>Contextes politiques/sécuritaires très différents (Israël). Pas tout transposable.</a:t>
            </a:r>
          </a:p>
          <a:p/>
          <a:p>
            <a:r>
              <a:t>STATUS: Recherche documentaire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Politique industrielle ciblée : Corée du Sud</a:t>
            </a:r>
          </a:p>
          <a:p/>
          <a:p>
            <a:r>
              <a:t>QUESTION ANALYTIQUE:</a:t>
            </a:r>
          </a:p>
          <a:p>
            <a:r>
              <a:t>Comment la Corée est-elle devenue une puissance semi/matériaux en une génération, et qu'est-ce qui est transposable au QC ?</a:t>
            </a:r>
          </a:p>
          <a:p/>
          <a:p>
            <a:r>
              <a:t>DONNÉES / SOURCES:</a:t>
            </a:r>
          </a:p>
          <a:p>
            <a:r>
              <a:t>KISTEP, K-Chips Act (2023), Samsung/SK Hynix disclosures, KDB reports. Littérature sur modèle chaebols et évolution deep-tech.</a:t>
            </a:r>
          </a:p>
          <a:p/>
          <a:p>
            <a:r>
              <a:t>VISUEL (PLACEHOLDER):</a:t>
            </a:r>
          </a:p>
          <a:p>
            <a:r>
              <a:t>Timeline 1980–2025 des dépenses R-D publiques + événements-clés; encart 'chiffres-clés' comparés au Canada.</a:t>
            </a:r>
          </a:p>
          <a:p/>
          <a:p>
            <a:r>
              <a:t>TAKEAWAY ATTENDU:</a:t>
            </a:r>
          </a:p>
          <a:p>
            <a:r>
              <a:t>Modèle coréen : coordination top-down massive + champions nationaux + éducation technique ciblée. Transposable à échelle réduite : ciblage sous-sectoriel (quantique, photonique), partenariats structurants, financement long-horizon.</a:t>
            </a:r>
          </a:p>
          <a:p/>
          <a:p>
            <a:r>
              <a:t>CAVEATS:</a:t>
            </a:r>
          </a:p>
          <a:p>
            <a:r>
              <a:t>Échelle et contexte culturel très différents. Composante 'champion national' controversée démocratiquement.</a:t>
            </a:r>
          </a:p>
          <a:p/>
          <a:p>
            <a:r>
              <a:t>STATUS: Recherche documentaire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Grandes économies : Allemagne et États-Unis</a:t>
            </a:r>
          </a:p>
          <a:p/>
          <a:p>
            <a:r>
              <a:t>QUESTION ANALYTIQUE:</a:t>
            </a:r>
          </a:p>
          <a:p>
            <a:r>
              <a:t>Que retenir des deux plus gros modèles (US CHIPS Act, DE Mittelstand + SPRIND/DTEC) et qu'est-ce qui survit à l'adaptation pour le QC ?</a:t>
            </a:r>
          </a:p>
          <a:p/>
          <a:p>
            <a:r>
              <a:t>DONNÉES / SOURCES:</a:t>
            </a:r>
          </a:p>
          <a:p>
            <a:r>
              <a:t>US : White House CHIPS reports, NSF, NIST, fabs annoncées, IRA cleantech. DE : BMWK, SPRIND, DTEC.Bw, Mittelstand deep-tech (Carl Zeiss, Trumpf).</a:t>
            </a:r>
          </a:p>
          <a:p/>
          <a:p>
            <a:r>
              <a:t>VISUEL (PLACEHOLDER):</a:t>
            </a:r>
          </a:p>
          <a:p>
            <a:r>
              <a:t>2 colonnes — US ('big bet subventions') et DE ('dense réseau mittelstand'). Tableau comparatif + 'Ce que le QC peut importer à son échelle.'</a:t>
            </a:r>
          </a:p>
          <a:p/>
          <a:p>
            <a:r>
              <a:t>TAKEAWAY ATTENDU:</a:t>
            </a:r>
          </a:p>
          <a:p>
            <a:r>
              <a:t>Ni modèle US (52 G$ CHIPS) ni Mittelstand ne se reproduisent à l'identique, mais 2 leçons : (1) ciblage d'infrastructures manquantes (US : fab), (2) financement institutionnel long-terme du réseau existant (DE : Fraunhofer). CRIQ et INO = Fraunhofer canadiens potentiels.</a:t>
            </a:r>
          </a:p>
          <a:p/>
          <a:p>
            <a:r>
              <a:t>CAVEATS:</a:t>
            </a:r>
          </a:p>
          <a:p>
            <a:r>
              <a:t>CHIPS Act 3 ans de recul seulement. Mittelstand produit d'un siècle.</a:t>
            </a:r>
          </a:p>
          <a:p/>
          <a:p>
            <a:r>
              <a:t>STATUS: Recherche documentaire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Émergent : Pologne (cas de rattrapage)</a:t>
            </a:r>
          </a:p>
          <a:p/>
          <a:p>
            <a:r>
              <a:t>QUESTION ANALYTIQUE:</a:t>
            </a:r>
          </a:p>
          <a:p>
            <a:r>
              <a:t>Une économie européenne de rattrapage post-intégration EU peut-elle inspirer une trajectoire d'accélération du QC ?</a:t>
            </a:r>
          </a:p>
          <a:p/>
          <a:p>
            <a:r>
              <a:t>DONNÉES / SOURCES:</a:t>
            </a:r>
          </a:p>
          <a:p>
            <a:r>
              <a:t>NCBR reports, Polish Development Fund (PFR) deep-tech initiatives. OCDE/Eurostat R-D.</a:t>
            </a:r>
          </a:p>
          <a:p/>
          <a:p>
            <a:r>
              <a:t>VISUEL (PLACEHOLDER):</a:t>
            </a:r>
          </a:p>
          <a:p>
            <a:r>
              <a:t>Trajectoire 2004–2025 (R-D, compagnies deep-tech) avec annotations inflexions politiques; courbe parallèle QC pour comparaison.</a:t>
            </a:r>
          </a:p>
          <a:p/>
          <a:p>
            <a:r>
              <a:t>TAKEAWAY ATTENDU:</a:t>
            </a:r>
          </a:p>
          <a:p>
            <a:r>
              <a:t>La Pologne montre qu'une décennie de politique industrielle cohérente peut multiplier la base deep-tech par 3–5×. Le QC est plus mature mais a un déficit d'accélération similaire. Horizon = décennie, pas mandat.</a:t>
            </a:r>
          </a:p>
          <a:p/>
          <a:p>
            <a:r>
              <a:t>CAVEATS:</a:t>
            </a:r>
          </a:p>
          <a:p>
            <a:r>
              <a:t>Fonds EU structurants non-disponibles au Canada. Contexte post-soviétique spécifique.</a:t>
            </a:r>
          </a:p>
          <a:p/>
          <a:p>
            <a:r>
              <a:t>STATUS: Recherche documentaire à faire — angle inédit dans rapports canadiens existants.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Domestique : Québec vs reste du Canada</a:t>
            </a:r>
          </a:p>
          <a:p/>
          <a:p>
            <a:r>
              <a:t>QUESTION ANALYTIQUE:</a:t>
            </a:r>
          </a:p>
          <a:p>
            <a:r>
              <a:t>Quelle est la place du Québec dans le deep tech canadien, et où souffre-t-il par rapport à Ontario et CB ?</a:t>
            </a:r>
          </a:p>
          <a:p/>
          <a:p>
            <a:r>
              <a:t>DONNÉES / SOURCES:</a:t>
            </a:r>
          </a:p>
          <a:p>
            <a:r>
              <a:t>StatCan R-D par province. ISED KSBS. Ontario Business Registry (accès à confirmer). GSER/StartupBlink rankings. Rapports MaRS, Communitech (ON), BC Tech.</a:t>
            </a:r>
          </a:p>
          <a:p/>
          <a:p>
            <a:r>
              <a:t>VISUEL (PLACEHOLDER):</a:t>
            </a:r>
          </a:p>
          <a:p>
            <a:r>
              <a:t>Carte canadienne choroplèthe + tableau comparatif QC / ON / CB / AB / Atlantique sur 6 indicateurs.</a:t>
            </a:r>
          </a:p>
          <a:p/>
          <a:p>
            <a:r>
              <a:t>TAKEAWAY ATTENDU:</a:t>
            </a:r>
          </a:p>
          <a:p>
            <a:r>
              <a:t>Ontario plus gros en volume absolu (pop 1.8× QC) avec cluster semi Waterloo + biotech Toronto. QC surreprésenté en photonique, quantique, cleantech, aérospatial par habitant. Le QC = province hardware-centric du Canada.</a:t>
            </a:r>
          </a:p>
          <a:p/>
          <a:p>
            <a:r>
              <a:t>CAVEATS:</a:t>
            </a:r>
          </a:p>
          <a:p>
            <a:r>
              <a:t>Définitions provinciales asymétriques. Comparaison 'toutes choses égales' difficile.</a:t>
            </a:r>
          </a:p>
          <a:p/>
          <a:p>
            <a:r>
              <a:t>STATUS: Recherche à faire; Ontario Business Registry à explorer.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CHIPS Act, Chips Act EU, Stratégie quantique CA : la pause canadienne</a:t>
            </a:r>
          </a:p>
          <a:p/>
          <a:p>
            <a:r>
              <a:t>QUESTION ANALYTIQUE:</a:t>
            </a:r>
          </a:p>
          <a:p>
            <a:r>
              <a:t>Quels effets observés des grandes politiques industrielles récentes, et qu'est-ce qui manque côté canadien ?</a:t>
            </a:r>
          </a:p>
          <a:p/>
          <a:p>
            <a:r>
              <a:t>DONNÉES / SOURCES:</a:t>
            </a:r>
          </a:p>
          <a:p>
            <a:r>
              <a:t>White House CHIPS reports + CRS. European Commission dashboards. Conseil consultatif canadien sur les semi (2023). Stratégie quantique CA (360M$).</a:t>
            </a:r>
          </a:p>
          <a:p/>
          <a:p>
            <a:r>
              <a:t>VISUEL (PLACEHOLDER):</a:t>
            </a:r>
          </a:p>
          <a:p>
            <a:r>
              <a:t>Timeline 2020–2026 avec montants engagés et résultats à 3 ans; colonne 'Canada' visiblement plus pâle.</a:t>
            </a:r>
          </a:p>
          <a:p/>
          <a:p>
            <a:r>
              <a:t>TAKEAWAY ATTENDU:</a:t>
            </a:r>
          </a:p>
          <a:p>
            <a:r>
              <a:t>Le Canada n'a pas de CHIPS Act. Instruments existants utiles mais sous-dimensionnés et dispersés. Le QC a les leviers pour agir unilatéralement sur photonique et quantique.</a:t>
            </a:r>
          </a:p>
          <a:p/>
          <a:p>
            <a:r>
              <a:t>CAVEATS:</a:t>
            </a:r>
          </a:p>
          <a:p>
            <a:r>
              <a:t>CHIPS Act 3 ans de recul — appréciation préliminaire.</a:t>
            </a:r>
          </a:p>
          <a:p/>
          <a:p>
            <a:r>
              <a:t>STATUS: Recherche documentaire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Capital par stade : QC vs pairs</a:t>
            </a:r>
          </a:p>
          <a:p/>
          <a:p>
            <a:r>
              <a:t>QUESTION ANALYTIQUE:</a:t>
            </a:r>
          </a:p>
          <a:p>
            <a:r>
              <a:t>À quels stades de financement le Québec souffre-t-il le plus en deep-tech vs pairs directement comparables ?</a:t>
            </a:r>
          </a:p>
          <a:p/>
          <a:p>
            <a:r>
              <a:t>DONNÉES / SOURCES:</a:t>
            </a:r>
          </a:p>
          <a:p>
            <a:r>
              <a:t>PitchBook/CVCA via RC. Stratification Seed/A/B/Growth pour deep-tech QC vs ON, US moyen, IL, SE.</a:t>
            </a:r>
          </a:p>
          <a:p/>
          <a:p>
            <a:r>
              <a:t>VISUEL (PLACEHOLDER):</a:t>
            </a:r>
          </a:p>
          <a:p>
            <a:r>
              <a:t>4 barres par région (Seed, A, B, Growth) — QC vs 3–4 régions comparables.</a:t>
            </a:r>
          </a:p>
          <a:p/>
          <a:p>
            <a:r>
              <a:t>TAKEAWAY ATTENDU:</a:t>
            </a:r>
          </a:p>
          <a:p>
            <a:r>
              <a:t>Seed correct, Série A correct, Séries B et Growth critiquement manquants pour deep-tech au QC. Goulot canadien amplifié par intensité capitalistique.</a:t>
            </a:r>
          </a:p>
          <a:p/>
          <a:p>
            <a:r>
              <a:t>CAVEATS:</a:t>
            </a:r>
          </a:p>
          <a:p>
            <a:r>
              <a:t>Stages Dealroom vs PitchBook peuvent différer — normaliser via taxonomy/stages.yaml. Licensed → agrégats.</a:t>
            </a:r>
          </a:p>
          <a:p/>
          <a:p>
            <a:r>
              <a:t>STATUS: BLOQUANT sur accord 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Le gap de scaling</a:t>
            </a:r>
          </a:p>
          <a:p/>
          <a:p>
            <a:r>
              <a:t>QUESTION ANALYTIQUE:</a:t>
            </a:r>
          </a:p>
          <a:p>
            <a:r>
              <a:t>Combien de compagnies hard-tech québécoises passent du stade seed au scaleup (10M$+ ARR / 50+ employés) ?</a:t>
            </a:r>
          </a:p>
          <a:p/>
          <a:p>
            <a:r>
              <a:t>DONNÉES / SOURCES:</a:t>
            </a:r>
          </a:p>
          <a:p>
            <a:r>
              <a:t>Compter dans GOLD.STARTUP_REGISTRY + données financement les compagnies franchissant les seuils. Comparer ratio formation → scaleup au software.</a:t>
            </a:r>
          </a:p>
          <a:p/>
          <a:p>
            <a:r>
              <a:t>VISUEL (PLACEHOLDER):</a:t>
            </a:r>
          </a:p>
          <a:p>
            <a:r>
              <a:t>Funnel — formation / premier tour / Série A / scaleup — pour hard-tech vs software.</a:t>
            </a:r>
          </a:p>
          <a:p/>
          <a:p>
            <a:r>
              <a:t>TAKEAWAY ATTENDU:</a:t>
            </a:r>
          </a:p>
          <a:p>
            <a:r>
              <a:t>Funnel hard-tech beaucoup plus étroit au sommet. Capital patient et demande domestique manquent.</a:t>
            </a:r>
          </a:p>
          <a:p/>
          <a:p>
            <a:r>
              <a:t>CAVEATS:</a:t>
            </a:r>
          </a:p>
          <a:p>
            <a:r>
              <a:t>Cohortes petites → valeurs bruitées.</a:t>
            </a:r>
          </a:p>
          <a:p/>
          <a:p>
            <a:r>
              <a:t>STATUS: Analyse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Intensité capitalistique et capex</a:t>
            </a:r>
          </a:p>
          <a:p/>
          <a:p>
            <a:r>
              <a:t>QUESTION ANALYTIQUE:</a:t>
            </a:r>
          </a:p>
          <a:p>
            <a:r>
              <a:t>Le capital disponible au QC est-il adapté à l'intensité capex du hard-tech (équipements, fab, certifications) ?</a:t>
            </a:r>
          </a:p>
          <a:p/>
          <a:p>
            <a:r>
              <a:t>DONNÉES / SOURCES:</a:t>
            </a:r>
          </a:p>
          <a:p>
            <a:r>
              <a:t>Estimations capex par pilier (littérature publique, comparables). Taille moyenne Série A hard-tech vs software au QC.</a:t>
            </a:r>
          </a:p>
          <a:p/>
          <a:p>
            <a:r>
              <a:t>VISUEL (PLACEHOLDER):</a:t>
            </a:r>
          </a:p>
          <a:p>
            <a:r>
              <a:t>Barres 'capex requis pour break-even' par pilier vs 'taille moyenne Série A au QC'.</a:t>
            </a:r>
          </a:p>
          <a:p/>
          <a:p>
            <a:r>
              <a:t>TAKEAWAY ATTENDU:</a:t>
            </a:r>
          </a:p>
          <a:p>
            <a:r>
              <a:t>Écart structurel — les rounds typiques QC ne suffisent pas pour MVP hardware dans la moitié des piliers. Rationale pour instruments publics ou programmes MatchCap.</a:t>
            </a:r>
          </a:p>
          <a:p/>
          <a:p>
            <a:r>
              <a:t>CAVEATS:</a:t>
            </a:r>
          </a:p>
          <a:p>
            <a:r>
              <a:t>Estimations capex varient énormément intra-pilier.</a:t>
            </a:r>
          </a:p>
          <a:p/>
          <a:p>
            <a:r>
              <a:t>STATUS: Recherche + analyse à faire.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Pénurie de talents-clés</a:t>
            </a:r>
          </a:p>
          <a:p/>
          <a:p>
            <a:r>
              <a:t>QUESTION ANALYTIQUE:</a:t>
            </a:r>
          </a:p>
          <a:p>
            <a:r>
              <a:t>Quels profils manquent le plus, et comment ça bloque la croissance ?</a:t>
            </a:r>
          </a:p>
          <a:p/>
          <a:p>
            <a:r>
              <a:t>DONNÉES / SOURCES:</a:t>
            </a:r>
          </a:p>
          <a:p>
            <a:r>
              <a:t>Enquêtes MEIE/Emploi-Québec sur pénurie STEM. Témoignages (entretiens qualitatifs à conduire).</a:t>
            </a:r>
          </a:p>
          <a:p/>
          <a:p>
            <a:r>
              <a:t>VISUEL (PLACEHOLDER):</a:t>
            </a:r>
          </a:p>
          <a:p>
            <a:r>
              <a:t>Matrix 2×2 — profil × sévérité de pénurie (qualitatif).</a:t>
            </a:r>
          </a:p>
          <a:p/>
          <a:p>
            <a:r>
              <a:t>TAKEAWAY ATTENDU:</a:t>
            </a:r>
          </a:p>
          <a:p>
            <a:r>
              <a:t>VP Engineering avec scaling hard-tech, ingénieurs process semi, PhDs quantique appliqué, operators EU/US avec réseaux — les plus rares.</a:t>
            </a:r>
          </a:p>
          <a:p/>
          <a:p>
            <a:r>
              <a:t>CAVEATS:</a:t>
            </a:r>
          </a:p>
          <a:p>
            <a:r>
              <a:t>Qualitatif; à valider par entretiens.</a:t>
            </a:r>
          </a:p>
          <a:p/>
          <a:p>
            <a:r>
              <a:t>STATUS: Entretiens à planifier.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Capacité manufacturière et supply chain</a:t>
            </a:r>
          </a:p>
          <a:p/>
          <a:p>
            <a:r>
              <a:t>QUESTION ANALYTIQUE:</a:t>
            </a:r>
          </a:p>
          <a:p>
            <a:r>
              <a:t>Le QC peut-il faire scale ses compagnies hard-tech localement, ou dépend-il de sous-traitance externe (US, Asie) ?</a:t>
            </a:r>
          </a:p>
          <a:p/>
          <a:p>
            <a:r>
              <a:t>DONNÉES / SOURCES:</a:t>
            </a:r>
          </a:p>
          <a:p>
            <a:r>
              <a:t>Inventaire des foundries/ateliers propres (INO fab, CMC Microsystems, AAC). Rapports stratégie quantique CA + semi.</a:t>
            </a:r>
          </a:p>
          <a:p/>
          <a:p>
            <a:r>
              <a:t>VISUEL (PLACEHOLDER):</a:t>
            </a:r>
          </a:p>
          <a:p>
            <a:r>
              <a:t>Carte des capacités manufacturières au Canada, heatmap par pilier.</a:t>
            </a:r>
          </a:p>
          <a:p/>
          <a:p>
            <a:r>
              <a:t>TAKEAWAY ATTENDU:</a:t>
            </a:r>
          </a:p>
          <a:p>
            <a:r>
              <a:t>Foundry quantique (Bromont — IBM/PINQ²) remarquable. Globalement dépendance forte hors-QC pour fab semi, assembly, certification. Vulnérabilité géopolitique.</a:t>
            </a:r>
          </a:p>
          <a:p/>
          <a:p>
            <a:r>
              <a:t>CAVEATS:</a:t>
            </a:r>
          </a:p>
          <a:p>
            <a:r>
              <a:t>Ne pas surestimer 'faiblesse' — certains choix de dépendance sont rationnels (scale).</a:t>
            </a:r>
          </a:p>
          <a:p/>
          <a:p>
            <a:r>
              <a:t>STATUS: Inventaire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Fragmentation fédéral-provincial</a:t>
            </a:r>
          </a:p>
          <a:p/>
          <a:p>
            <a:r>
              <a:t>QUESTION ANALYTIQUE:</a:t>
            </a:r>
          </a:p>
          <a:p>
            <a:r>
              <a:t>Les instruments fédéraux et provinciaux s'articulent-ils en ensemble cohérent, ou créent-ils confusion ?</a:t>
            </a:r>
          </a:p>
          <a:p/>
          <a:p>
            <a:r>
              <a:t>DONNÉES / SOURCES:</a:t>
            </a:r>
          </a:p>
          <a:p>
            <a:r>
              <a:t>Cartographie des programmes (slide précédente) remixée par niveau de gouvernement. Entretiens qualitatifs avec opérateurs.</a:t>
            </a:r>
          </a:p>
          <a:p/>
          <a:p>
            <a:r>
              <a:t>VISUEL (PLACEHOLDER):</a:t>
            </a:r>
          </a:p>
          <a:p>
            <a:r>
              <a:t>Diagramme en flux de la trajectoire d'un opérateur cherchant financement/support — nombre de portes d'entrée, temps moyen.</a:t>
            </a:r>
          </a:p>
          <a:p/>
          <a:p>
            <a:r>
              <a:t>TAKEAWAY ATTENDU:</a:t>
            </a:r>
          </a:p>
          <a:p>
            <a:r>
              <a:t>Fragmentation crée friction — fondateur typique consulte 4–6 programmes. Opportunité pour guichet unique QC.</a:t>
            </a:r>
          </a:p>
          <a:p/>
          <a:p>
            <a:r>
              <a:t>CAVEATS:</a:t>
            </a:r>
          </a:p>
          <a:p>
            <a:r>
              <a:t>Qualitatif à l'appui d'entretiens.</a:t>
            </a:r>
          </a:p>
          <a:p/>
          <a:p>
            <a:r>
              <a:t>STATUS: Entretiens à planifier.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Principes à valider/reformuler après analyse. Nés des patterns observés dans les benchmarks et les défis identifiés.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Formulation finale dépend du résultat de la section 6 (Capex vs Série A actuelle).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Formulation finale dépend du résultat de la section 6 (pénurie talents).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Formulation finale dépend du résultat de la section 4 (acteurs) et 6 (lacunes).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Formulation finale dépend des benchmarks petits champions (SE, IL, SG).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remplir en fin de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à finaliser au moment du livrable. Mettre à jour les dates de coupure.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Méthodologie détaillée (1/3) — Classification hybride</a:t>
            </a:r>
          </a:p>
          <a:p/>
          <a:p>
            <a:r>
              <a:t>QUESTION ANALYTIQUE:</a:t>
            </a:r>
          </a:p>
          <a:p>
            <a:r>
              <a:t>Comment une compagnie-type voyage-t-elle à travers le classifier pour être étiquetée 'deep tech' ?</a:t>
            </a:r>
          </a:p>
          <a:p/>
          <a:p>
            <a:r>
              <a:t>DONNÉES / SOURCES:</a:t>
            </a:r>
          </a:p>
          <a:p>
            <a:r>
              <a:t>40+ patterns keywords sur DESC_LOWER et DESC_ALL. Codes CAE (boost ciblés 2851, 3361, 3674, 3827, 3740). Filtre service (regex exclusion) évite 3,757 faux positifs. Score → tier HIGH/MEDIUM/LOW.</a:t>
            </a:r>
          </a:p>
          <a:p/>
          <a:p>
            <a:r>
              <a:t>VISUEL (PLACEHOLDER):</a:t>
            </a:r>
          </a:p>
          <a:p>
            <a:r>
              <a:t>Flowchart 'voyage d'une compagnie' — description + CAE → filtres → score → tier. Pédagogique.</a:t>
            </a:r>
          </a:p>
          <a:p/>
          <a:p>
            <a:r>
              <a:t>TAKEAWAY ATTENDU:</a:t>
            </a:r>
          </a:p>
          <a:p>
            <a:r>
              <a:t>Classification reproductible et transparente. Chaque compagnie a un score et un tier, pas une étiquette binaire.</a:t>
            </a:r>
          </a:p>
          <a:p/>
          <a:p>
            <a:r>
              <a:t>CAVEATS:</a:t>
            </a:r>
          </a:p>
          <a:p>
            <a:r>
              <a:t>73% des classifications historiques reposaient sur CAE seul. Le filtre service élimine l'essentiel du bruit mais pas tout.</a:t>
            </a:r>
          </a:p>
          <a:p/>
          <a:p>
            <a:r>
              <a:t>STATUS: Référentiel prêt (pipelines/transforms/silver/31_req_product_classification.sql + analysis/taxonomy-and-definitions.md).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Méthodologie détaillée (2/3) — Définitions par pilier</a:t>
            </a:r>
          </a:p>
          <a:p/>
          <a:p>
            <a:r>
              <a:t>QUESTION ANALYTIQUE:</a:t>
            </a:r>
          </a:p>
          <a:p>
            <a:r>
              <a:t>Comment chaque pilier est-il défini de façon opérationnelle ?</a:t>
            </a:r>
          </a:p>
          <a:p/>
          <a:p>
            <a:r>
              <a:t>DONNÉES / SOURCES:</a:t>
            </a:r>
          </a:p>
          <a:p>
            <a:r>
              <a:t>Table 9 piliers × 5 colonnes — définition une phrase, 2-3 mots-clés principaux, codes CAE dominants, 2 exemples publics, caveats-clés.</a:t>
            </a:r>
          </a:p>
          <a:p/>
          <a:p>
            <a:r>
              <a:t>VISUEL (PLACEHOLDER):</a:t>
            </a:r>
          </a:p>
          <a:p>
            <a:r>
              <a:t>Table dense 9 lignes × 5 colonnes; design clair avec codes CAE en petit.</a:t>
            </a:r>
          </a:p>
          <a:p/>
          <a:p>
            <a:r>
              <a:t>TAKEAWAY ATTENDU:</a:t>
            </a:r>
          </a:p>
          <a:p>
            <a:r>
              <a:t>Le lecteur peut vérifier comment une compagnie qu'il connaît serait classifiée, et identifier si notre classification diverge de son intuition.</a:t>
            </a:r>
          </a:p>
          <a:p/>
          <a:p>
            <a:r>
              <a:t>CAVEATS:</a:t>
            </a:r>
          </a:p>
          <a:p>
            <a:r>
              <a:t>La taxonomie est v0.1 — révisions possibles via branche taxonomy/ du repo.</a:t>
            </a:r>
          </a:p>
          <a:p/>
          <a:p>
            <a:r>
              <a:t>STATUS: Contenu prêt (analysis/taxonomy-and-definitions.md section 2). Viz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Méthodologie détaillée (3/3) — Matching et gouvernance</a:t>
            </a:r>
          </a:p>
          <a:p/>
          <a:p>
            <a:r>
              <a:t>QUESTION ANALYTIQUE:</a:t>
            </a:r>
          </a:p>
          <a:p>
            <a:r>
              <a:t>Comment les sources multiples (REQ, Dealroom, PitchBook) sont-elles unifiées, et quelles règles de gouvernance appliquées aux données sensibles ?</a:t>
            </a:r>
          </a:p>
          <a:p/>
          <a:p>
            <a:r>
              <a:t>DONNÉES / SOURCES:</a:t>
            </a:r>
          </a:p>
          <a:p>
            <a:r>
              <a:t>Matching : bridge NEQ, fuzzy name ≥ 0.85, manual review whitelist. Gouvernance : agrégats seulement pour sources licenciées, seuil minimum 5 enregistrements.</a:t>
            </a:r>
          </a:p>
          <a:p/>
          <a:p>
            <a:r>
              <a:t>VISUEL (PLACEHOLDER):</a:t>
            </a:r>
          </a:p>
          <a:p>
            <a:r>
              <a:t>Diagramme de flux sources → unification → publication, avec annotations gouvernance.</a:t>
            </a:r>
          </a:p>
          <a:p/>
          <a:p>
            <a:r>
              <a:t>TAKEAWAY ATTENDU:</a:t>
            </a:r>
          </a:p>
          <a:p>
            <a:r>
              <a:t>La méthodologie de matching est documentée et reproductible. La gouvernance protège les données sensibles sans empêcher la production d'insights.</a:t>
            </a:r>
          </a:p>
          <a:p/>
          <a:p>
            <a:r>
              <a:t>CAVEATS:</a:t>
            </a:r>
          </a:p>
          <a:p>
            <a:r>
              <a:t>Compagnies incorporées fédéralement (CBCA) sous-détectées — angle mort structurel.</a:t>
            </a:r>
          </a:p>
          <a:p/>
          <a:p>
            <a:r>
              <a:t>STATUS: Référentiel prêt (pipelines/transforms/entity_resolution/ + DATA-GOVERNANCE.md).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SLIDE: Taxonomie employée</a:t>
            </a:r>
          </a:p>
          <a:p/>
          <a:p>
            <a:r>
              <a:t>QUESTION ANALYTIQUE:</a:t>
            </a:r>
          </a:p>
          <a:p>
            <a:r>
              <a:t>Quelle est la taxonomie de secteurs utilisée dans ce rapport, et comment se rattache-t-elle à la taxonomie canonique du repo ?</a:t>
            </a:r>
          </a:p>
          <a:p/>
          <a:p>
            <a:r>
              <a:t>DONNÉES / SOURCES:</a:t>
            </a:r>
          </a:p>
          <a:p>
            <a:r>
              <a:t>taxonomy/sectors.yaml (repo partagé) + taxonomy/startup-criteria.yaml. Périmètre du rapport = DEEPTECH + parties de HEALTHTECH et CLEANTECH + partie d'AGRITECH.</a:t>
            </a:r>
          </a:p>
          <a:p/>
          <a:p>
            <a:r>
              <a:t>VISUEL (PLACEHOLDER):</a:t>
            </a:r>
          </a:p>
          <a:p>
            <a:r>
              <a:t>Arbre taxonomique 2 niveaux (parent → enfants) avec codes colorés 'inclus / partiellement inclus / exclu'.</a:t>
            </a:r>
          </a:p>
          <a:p/>
          <a:p>
            <a:r>
              <a:t>TAKEAWAY ATTENDU:</a:t>
            </a:r>
          </a:p>
          <a:p>
            <a:r>
              <a:t>Le périmètre est clair et décidable : on peut pour chaque compagnie répondre oui/non à 'est-ce dans ce rapport ?'.</a:t>
            </a:r>
          </a:p>
          <a:p/>
          <a:p>
            <a:r>
              <a:t>CAVEATS:</a:t>
            </a:r>
          </a:p>
          <a:p>
            <a:r>
              <a:t>Taxonomie v0.1 — évolution prévue via branche taxonomy/ du repo.</a:t>
            </a:r>
          </a:p>
          <a:p/>
          <a:p>
            <a:r>
              <a:t>STATUS: Données prêtes (YAML). Viz à construire.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de transparence. À lire en miroir des takeaways de chaque slide — où chaque limitation s'applique-t-elle le plus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finaliser au moment du livrable. Objectif : un lecteur technique peut refaire tous les chiffres.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À finaliser en toute fin de projet.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0A2540"/>
                </a:solidFill>
              </a:rPr>
              <a:t>Hardware et Deep Tech au Québec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374151"/>
                </a:solidFill>
              </a:rPr>
              <a:t>État des lieux, dynamiques et leviers pour la prochaine décennie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601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C3D5A"/>
                </a:solidFill>
              </a:rPr>
              <a:t>Un rapport conjoint de Quebec Tech + Réseau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103601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</a:rPr>
              <a:t>(Conseil de l'Innovation du Québec — co-signataire en discussion)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103601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</a:rPr>
              <a:t>Day Zero deck · v0.2 · 2026-04-17 · brouillon interne · à ne pas diffuser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Cadrage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3F4F6"/>
                </a:solidFill>
              </a:rPr>
              <a:t>TL;DR, contexte, définitions, méthodologie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· Section 1 · Cadrage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 / 62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Ce qu'il faut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Environ [X] compagnies deep-tech au Québec — lasers, puces, robots, dispositifs médicaux, équipement spatial. Ancrées par INO, EXFO, MDA, Kinova, Nord Quantique.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Un réveil depuis 2024, mais modeste. ~18 nouvelles compagnies/trimestre en 2025–début 2026 vs ~12 pré-COVID. Quantique et matériel adjacent bougent; photonique traditionnelle reste plate.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Le vent GenAI n'a pas porté le matériel. Création software × 2.2 depuis 2022; création hardware plate. Deux trajectoires opposées.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Le vrai problème n'est pas de créer, c'est de faire grandir. Capital patient manque, demande domestique diffuse, opérateurs expérimentés rares.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[Recommandation phare à formuler après analyse] — leviers plausibles : capital dédié, procurement stratégique, immigration accélérée, renforcement des anchors.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 / 62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Pourquoi ce rapport, pourquoi maintenant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Quelle est la fenêtre de pertinence de ce rapport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Contexte global : CHIPS Act (US 2022), Chips Act (EU 2023), réponse canadienne limitée. Contexte QC : héritage photonique INO/EXFO, pôle quantique émergent, contraste post-GenAI SW/HW. Contexte politique : cycle électoral QC fin 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Timeline horizontale 2017–2026 avec événements-clés (COVID, CHIPS Act, vague GenAI, élections QC) superposée à une courbe de formation hard-tech.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Fenêtre de pertinence claire : les politiques deep-tech se durcissent à l'international; le Québec a les ancres mais pas le momentum; les élections ouvrent l'espace discursif.
Caveats: Ne pas surcharger le contexte politique électoral — rapport grand public, pas partisan.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Narratif prêt; viz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 / 62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Deep tech, hard tech : de quoi parle-t-on 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Qu'est-ce que ce rapport appelle 'deep tech' et 'hard tech' ? Comment distingue-t-on ces compagnies des autres start-ups technologiques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Deep tech = bâti sur avancée scientifique/ingénierie substantielle, cycles R-D longs, capital-intense. Hard tech = sous-ensemble à produit physique au cœur. Ce rapport couvre deep tech large (9 piliers).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Schéma en cercles concentriques (deep tech large → hard tech → 9 piliers), avec liste courte 'INCLUS / EXCLU' et 3 exemples publics QC par colonne.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lecteur grand public doit, en 30 secondes, comprendre où est la frontière entre ce qu'on compte et ce qu'on exclut (SaaS pur, IA pure, fintech).
Caveats: Définitions stabilisées dans analysis/taxonomy-and-definitions.md. Renvoi explicite pour le lecteur qui veut creuser.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Définitions arrêtées; viz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 / 62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Les 9 piliers du deep tech québécois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le deep tech québécois se décompose-t-il concrètement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Table 9 lignes : photonique, quantique, semi, robotique, spatial, matériaux avancés, medtech/biotech-hw, cleantech-hw, agri-tech-hw. Définition en une phrase + un exemple public par pilier (EXFO, Nord Quantique, IBM Bromont, Kinova, MDA, NanoXplore, Medtronic, Lion Electric, Semios).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Grille 3×3 de tuiles avec icône, nom du pilier, phrase-définition, logo/nom d'une compagnie publique québécoise.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lecteur comprend en 30 secondes la diversité des piliers et peut associer chaque pilier à un nom concret — démystifie la notion abstraite de 'deep tech'.
Caveats: Cohérence critique avec analysis/taxonomy-and-definitions.md. Tout changement de nomenclature ici doit être répercuté là.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Contenu prêt; viz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6 / 62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Comment on a fait (méthodologie en 30 secondes)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les chiffres ont-ils été obtenus ? Quelle confiance peut-on y accorder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Point de départ : REQ. Classification hybride mots-clés + codes CAE. Croisement Dealroom (QT) et PitchBook (RC). Trois niveaux de confiance : HAUTE / MOYENNE / BASSE.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Infographie horizontale en 4 étapes (REQ → classification hybride → croisement sources → fiabilité tiers) avec icônes.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On est transparent sur les plages de confiance. Les compagnies incorporées au fédéral (CBCA) sont un angle mort à combler via Dealroom/PitchBook.
Caveats: 73 % des classifications historiques reposaient sur CAE seul. Importance d'annoncer les plages de confiance.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Texte prêt. Accord RC critique pour la partie PitchBook — à obtenir dans les 2 premières semaines.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7 / 62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Portrait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3F4F6"/>
                </a:solidFill>
              </a:rPr>
              <a:t>Combien, quoi, où, depuis quand, quelle taille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· Section 2 · Portrait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8 / 62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Combien de compagnies deep-tech au Québec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 est l'univers de compagnies deep-tech au Québec en 2026, et comment est-il borné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SILVER.REQ_PRODUCT_CLASSIFICATION filtré DEEPTECH + cross-ref GOLD.STARTUP_REGISTRY. Extension de l'analyse existante INTERNAL-hardware-photonics-req-2026 au DEEPTECH complet.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Grand chiffre avec fourchette, sous-titré par décomposition par pilier.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Fournir le chiffre-référence que tout le monde citera, avec une fourchette honnête plutôt qu'un nombre précis. Décomposer plutôt que donner un chiffre unique.
Caveats: Compagnies CBCA sous-détectées. Compagnies sans description ou site web sous-détectées.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Analyse à étendre — existant couvre photonique+matériel adjacent; inclure quantique, robotique, spatial, matériaux, biotech-hw.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9 / 62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Répartition par pilier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se répartit cet univers entre les 9 piliers deep-tech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SILVER.REQ_PRODUCT_CLASSIFICATION.MATCHED_SIGNALS — compter par token. Validation manuelle sur échantillon par bucket.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Barres horizontales triées décroissant, ou treemap respectant la hiérarchie mère-fille de la taxonomie.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La photonique et le matériel adjacent dominent historiquement; quantique et robotique sont petits en volume mais croissent; spatial sous-représenté malgré anchors médiatisés.
Caveats: Un NEQ peut matcher plusieurs tokens (biotech + medtech typique) — distinguer DISTINCT NEQ de total occurrences.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Partielle — Q5 couvre post-2024; rétrospectif long à produire.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10 / 62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Concentration géographique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Où sont concentrées ces compagnies au Québec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SILVER.REQ_PRODUCT_CLASSIFICATION.HQ_CITY (extrait regex d'adresse REQ). Agrégation par RMR via taxonomy/geographies.yaml.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Carte choroplèthe du Québec colorée par densité + overlay des institutions-phares (INO Québec, universités MTL/SHE).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Grand Montréal domine en volume; Grand Québec a probablement la plus forte densité relative en photonique grâce à l'INO et Laval.
Caveats: Extraction HQ_CITY par regex = bruitée; 'unknown' non-négligeable.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Données prêtes; viz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11 / 62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Pyramide d'âge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La population deep-tech québécoise est-elle neuve, mature, ou mixte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INCORPORATION_YEAR avec buckets 2026, 2020–2025, 2010–2019, 2000–2009, &lt;2000.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Histogramme par année d'incorporation avec ligne moyenne/médiane; superposition software/AI pour contraste si pertinent.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Pyramide probablement plus aplatie que software — moins de création annuelle mais plus de maturité historique.
Caveats: INCORPORATION_YEAR = année légale, pas nécessairement début d'activité commerciale. Pas d'info cessation d'activité.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Données prêtes; analyse simple à lancer.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12 / 62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Distribution par taille d'employés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Quelle est la taille typique d'une compagnie deep-tech québécoise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N_EMPLOYES et EMP_MIN numérique. Buckets REQ : 1–5, 6–10, 11–20, 21–50, 51–100, 101–250, 251–500, 501+.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Pyramide ou bar chart des tranches d'employés, couleur par pilier si lisible.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Queue longue à droite — beaucoup de petites (1–20), peu au-dessus de 250. Scaling gap visible dès les effectifs.
Caveats: Tranches autodéclarées à l'inscription, non mises à jour en temps réel. 'Non déclaré' = bucket significatif.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Données prêtes.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13 / 62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Modèle d'affaires (B2B / B2C / B2G)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Quelle est la distribution B2B / B2C / B2G chez les deep-tech québécoises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shared_ecosystem.qt_schema.companies.b2b_b2c (via Dealroom) + compléments manuels top 50 via sites web et LinkedIn.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Donut 3 segments ou 100 % stacked bar par pilier.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Hard tech est massivement B2B ou B2G. Très peu de B2C pur. Contraste avec software consumer; cycles de vente longs.
Caveats: Couverture Dealroom variable sur deep-tech. Beaucoup de small-scale n'ont pas de champ b2b_b2c renseigné.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Partielles; couverture Dealroom à quantifier.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14 / 62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Phares établis (anchors)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Quelles compagnies établies servent de 'bordure' à l'écosystème et autour desquelles gravite la formation neuve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Listes publiques seulement : EXFO, Coherent/II-VI ex-MPB (2021), MDA, CAE, Lion Electric, Nord Quantique, Kitco, AddÉnergie, GHGSat. Annonces médiatisées, sites web.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Tableau ou logos mosaïque organisé par pilier, avec année de fondation, HQ, statut (privé / public / acquis).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Documenter la 'gravité' institutionnelle — le Québec a des anchors crédibles dans plusieurs verticales, atout pour spinoffs.
Caveats: Inclure uniquement ce qui est vérifiable publiquement. 15–25 noms max.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Liste à construire — validation QT sur qui inclure.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15 / 62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Dynamiques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3F4F6"/>
                </a:solidFill>
              </a:rPr>
              <a:t>Formation, cohortes récentes, financement, sorties, trajectoires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· Section 3 · Dynamiques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16 / 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Taux de formation trimestriel 2017–2026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a évolué le rythme d'incorporation de compagnies deep-tech au Québec sur une décennie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SILVER.REQ_PRODUCT_CLASSIFICATION filtré DEEPTECH, groupé par DATE_TRUNC('quarter', DATE_IMMATRICULATION). L'analyse existante donne : pré-COVID 12.1/q → COVID 15.1/q → post-CHIPS 11.3/q → 2024 12.2/q → 2025–2026 18.2/q.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Ligne trimestrielle avec 4 zones ombrées (pré-COVID, COVID, post-CHIPS, récent) et annotations d'événements-clés.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Soubresaut récent (~50 % au-dessus de la baseline pré-COVID) mais petits volumes absolus. Confidence: Low (MSG-HARDTECH-01).
Caveats: Échantillons trimestriels à un chiffre pour sous-secteurs. 73 % via CAE seulement.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Viz existante en draft; à élargir au DEEPTECH complet.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17 / 62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Le soubresaut 2025 — signal ou bruit 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pic apparent 2025–début 2026 est-il statistiquement robuste ou un artéfact de petit échantillon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Même source que slide précédente. Test : retirer 3–4 incorporations du trimestre pic et voir si la tendance tient. Cross-ref MEDTEQ+, INO si accès.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Zoom sur 2024–2026 avec bandes de confiance (bootstrap rough), annotation 'en l'absence de X incorporations, la tendance disparaît'.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Honnêteté : à monitorer, pas à publier comme fait. Signal probable mais requiert 3–4 trimestres additionnels.
Caveats: Reprendre mot à mot la mise en garde MSG-HARDTECH-01.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Analyse à faire; calcul de sensibilité simple.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18 / 62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Photonique pure vs matériel adjacent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La photonique québécoise, avec sa base institutionnelle (INO), génère-t-elle des nouvelles compagnies, ou la croissance vient-elle d'ailleurs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Analyse existante : photonique pure flat ~2.0–2.2/q 2017–2026; croissance dans optique/imagerie (7/q en 2025) et matériel adjacent (9/q en 2025).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3 lignes superposées : photonique core, optique/imagerie, matériel adjacent. Temps sur X, formation/trimestre sur 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La photonique pure est plate malgré l'INO, EXFO, etc. La base institutionnelle ne génère PAS la vague de spinoffs qu'on attendrait — à creuser.
Caveats: MSG-HARDTECH-02 (Confidence: Medium). Classification sous-catégorie repose sur MATCHED_SIGNALS.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Analyse existante; à élargir DEEPTECH complet.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19 / 62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La cohorte post-2024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Qui sont les nouveaux entrants hard-tech post-2024, et sont-ils prometteurs (HIGH) ou bruit (LOW CAE-only)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Q5 diagnostic (pipelines/validation/diagnostics/Q5_req_post2024_hardtech.sql) déjà écrit. Sections 4–5 : décomposition par sous-catégorie et tier de confiance.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Tableau des nouveaux entrants par pilier × confiance (HIGH / MEDIUM / LOW), top 10 HIGH listés nommément si publiquement visibles.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La cohorte post-2024 penche vers HIGH-confidence quantique et robotique. Donner un chiffre 'propre' et un chiffre 'brut' pour montrer la marge d'incertitude.
Caveats: Q5 dépend de SILVER.REQ_PRODUCT_CLASSIFICATION rafraîchi dans Snowflake. Top 50 HIGH à valider manuellement avant citation.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SQL prêt; rouler dans Snowsight et trier CSV.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20 / 62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Contraste software vs hard-tech post-GenAI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boom GenAI 2023–2025 a-t-il entraîné le hard-tech, ou creusé l'écart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Comparaison taux de formation software-AI vs deep-tech. Analyse existante INTERNAL-genai-impact-req-2026 : création tech-product × 2.2 depuis 2022 (software) vs hardware plat.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2 lignes indexées à 100 en 2017 : software-AI et hard-tech. Évolution claire de l'écart.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vent GenAI n'a pas porté le hard-tech. Divergence structurelle qui justifie des instruments de politique publique DÉDIÉS. Message-pivot du rapport.
Caveats: Classification software-AI a ses propres bruits.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Analyse existante partielle; à formuler clairement la comparaison.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21 / 62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Financement hard-tech au Québec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 volume et quels montants de capital vont au hard-tech québécois, vs software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PitchBook/CVCA via RC — AGRÉGATS SEULEMENT (gouvernance). Dealroom funding QC deep-tech. Annonces publiques cross-référencées.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Deux histogrammes empilés côte-à-côte : 'Software-AI' vs 'Hard-tech' pour deals et montants. Timeline 2020–2025.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Hard-tech reçoit fraction disproportionnellement petite du capital levé, deals plus rares mais plus gros en moyenne.
Caveats: Source licenciée → agrégats seulement. Accord RC BLOQUANT.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BLOQUANT sur accord RC. Rédiger demande formelle.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22 / 62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Sorties notables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Quelles acquisitions et IPOs ont marqué le hard-tech québécois sur la dernière décennie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Annonces publiques (Bloomberg, communiqués, presse spécialisée) — sources publiques uniquement. PitchBook exits pour vérification si accord RC.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Timeline horizontale avec 8–15 sorties marquantes, taille des bulles = valeur si publique.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Quelques sorties significatives dominées par acquisitions par stratégiques US. Peu d'IPOs. Sortie canadienne/québécoise rare → implication écosystème risque.
Caveats: Sorties privées non annoncées hors tableau. Valeurs souvent non divulguées.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Liste à bâtir depuis sources publiques.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23 / 62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Trajectoires par pilier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Quels piliers deep-tech montent, stagnent, ou reculent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Time-series de formation par pilier (9). Optionnel : croisement avec données de financement.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Small multiples — 9 mini-lignes en grille 3×3, normalisées, avec badge '↑ / → / ↓'.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Carte synthétique des dynamiques — quantique et robotique montent, photonique plate, semi quasi-inexistant, spatial stable. Oriente sections 6 et 7.
Caveats: Petits échantillons par pilier — traiter comme qualitatif plutôt que précis.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Analyse à faire.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24 / 62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Acteurs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3F4F6"/>
                </a:solidFill>
              </a:rPr>
              <a:t>Institutions, capital, accélérateurs, universités, talent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· Section 4 · Acteurs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25 / 62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Institutions de recherche et de transfert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Quelle est la base institutionnelle sur laquelle s'appuie le hard-tech québécois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Publiques : INO, MEDTEQ+, Écotech Québec, IVADO, Mila, Institut Quantique (Sherbrooke), PINQ² (Bromont), Prompt, CRIQ, CNRC Boucherville. Listes de membres si accord.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Carte géographique QC avec institutions positionnées, taille proportionnelle à budget/effectifs publics.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Base institutionnelle dense et géographiquement distribuée (Québec-MTL-Sherbrooke-Bromont). Peu d'écosystèmes canadiens ont autant d'infrastructures.
Caveats: Budget/effectifs publics quand divulgués; sinon qualitatif.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Texte prêt; viz carte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26 / 62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Financement public et non-dilutif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Quels instruments publics soutiennent le hard-tech ? Lesquels sont lisibles par des opérateurs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Publiques : SR&amp;ED, PARI/IRAP, programmes MEIE, MITACS, FRQNT, Investissement Québec, Canada SIF, Stratégie quantique, CanExport. MEIE rapport.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Tableau matriciel 'instrument × stade × pilier applicable' avec codage couleur lisibilité/pertinence.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Beaucoup d'instruments, mais lisibilité et coordination déficientes. Pas d'équivalent CHIPS Act — lacune structurelle.
Caveats: Informations datent vite (budgets fédéraux changent) — dater la slide.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Inventaire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27 / 62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Investisseurs privés actifs en hard-tech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Quels fonds VC / PE investissent dans le hard-tech québécois ? Lacunes à certains stades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PitchBook/CVCA via RC — agrégats. Sites des fonds : Inovia, Real Ventures, Amplitude, BDC Capital, Investissement Québec, Fonds FTQ, Fondaction, CDPQ, Cycle Capital, Amorchem.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Bar chart top 15 investisseurs par # deals hard-tech QC 2020–2025; annotation du stade.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Capital seed disponible, capital scale-up (Série B+) rare et souvent étranger. Goulot classique canadien.
Caveats: Licensed → agrégats seulement. 'Actif' = au moins N deals — seuil à justifier.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BLOQUANT sur accord RC.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28 / 62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Accélérateurs et incubateurs à orientation hard-tech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Quels programmes québécois ont une spécialisation ou une ouverture réelle au hard-tech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Listes publiques : Centech (Polytechnique), District 3 (Concordia), TandemLaunch, Cycle Momentum, MEDTEQ+, Prompt. Cohortes récentes (sites web).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Tableau : nom / affiliation / cohorte/an / verticale / stade / exemple de diplômé hard-tech.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Quelques programmes solides (Centech, TandemLaunch, MEDTEQ+), mais écosystème accélération plus tourné vers software.
Caveats: Cohortes varient; données 2024–2025 partielles.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Inventaire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29 / 62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Universités et spinoffs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Les universités QC génèrent-elles des spinoffs hard-tech à un rythme compétitif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Bureaux de transfert (Univalor, SOVAR, Aligo) — rapports annuels. Listes de spinoffs universitaires (Sherbrooke publique). Cross-ref REQ via nom/adresse/fondateur.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Barres horizontales par université : spinoffs hard-tech 2015–2025, avec ratio sur budget recherche.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Sherbrooke punches above its weight en quantique. McGill forte en photonique/semi. Polytechnique + UdeM forts en robotique/aéro. Conversion recherche → compagnies sous-optimale.
Caveats: Données spinoffs non-normalisées entre universités. Federal CBCA spinoffs sous-détectés.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Données à collecter; lourd mais important.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30 / 62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Talent : ingénieurs, PhDs, opérateurs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bassin de talent hard-tech québécois est-il suffisant pour soutenir une accélération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StatCan ESCM/EAMT — diplômés STEM. Tableau MEIE sur talent. Rapports GSER/StartupBlink sur rang Québec.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3 indicateurs : (1) diplômés STEM/an, (2) PhDs/an, (3) 'operators avec expérience scale-up hard-tech' (qualitatif).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Pool de diplômés solide. Opérateurs expérimentés (C-level hard-tech ayant vécu scale-up) rares — importation nécessaire, enjeu immigration.
Caveats: Qualitatif pour la 3e métrique — reconnaître la limite.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Données publiques prêtes; qualitatif à argumenter.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31 / 62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3F4F6"/>
                </a:solidFill>
              </a:rPr>
              <a:t>8 régions par archétype : petits champions, politique industrielle, grandes économies, émergent, domestique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· Section 5 · 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32 / 62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Panorama des 8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le Québec se positionne-t-il globalement face aux 8 régions de comparaison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GSER 2024–2025, StartupBlink Global 2025, OCDE R-D. Rapports nationaux : Vinnova (SE), Israel Innovation Authority, A*STAR (SG), KISTEP (KR), BMWK (DE), NSF (US), NCBR (PL), ISED+StatCan (CA).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Grand tableau/heatmap 8 régions + QC × 6 indicateurs-clés — PIB/habitant, R-D privée %PIB, compagnies deep-tech/M hab, capital deep-tech par habitant, universités top-200, index politique industrielle.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QC a les ressources institutionnelles de rivaliser avec petits champions, mais volume de formation et capital sous le seuil critique. Position intermédiaire.
Caveats: Définitions 'deep tech' varient par source. Recul 1–2 ans sur données nationales.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Collecte documentaire à lancer.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33 / 62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Petits champions deep-tech : Suède, Israël, Singapour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 font ces 3 petites économies que le QC n'a pas encore fait, et qu'ont-elles en commun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SE : Vinnova, RISE, Chalmers Ventures, ancrages Ericsson/AstraZeneca. IL : IIA, Technion spinoffs, Yozma model, pipeline militaire→civil (8200). SG : A*STAR, NRF, SGInnovate, Temasek, ciblage top-down.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3 colonnes parallèles — un 'portrait' par pays (compagnies, capital, instruments-phares, leçon). En bas : 'Ce que les 3 partagent.'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3 ingrédients communs : (1) anchors industriels forts, (2) capital public de CROISSANCE (pas seulement seed), (3) demande domestique captive (défense, santé, fonds souverain).
Caveats: Contextes politiques/sécuritaires très différents (Israël). Pas tout transposable.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Recherche documentaire à faire.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34 / 62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Politique industrielle ciblée : Corée du Sud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la Corée est-elle devenue une puissance semi/matériaux en une génération, et qu'est-ce qui est transposable au QC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KISTEP, K-Chips Act (2023), Samsung/SK Hynix disclosures, KDB reports. Littérature sur modèle chaebols et évolution deep-tech.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Timeline 1980–2025 des dépenses R-D publiques + événements-clés; encart 'chiffres-clés' comparés au Canada.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Modèle coréen : coordination top-down massive + champions nationaux + éducation technique ciblée. Transposable à échelle réduite : ciblage sous-sectoriel (quantique, photonique), partenariats structurants, financement long-horizon.
Caveats: Échelle et contexte culturel très différents. Composante 'champion national' controversée démocratiquement.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Recherche documentaire à faire.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35 / 62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Grandes économies : Allemagne et États-Unis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 retenir des deux plus gros modèles (US CHIPS Act, DE Mittelstand + SPRIND/DTEC) et qu'est-ce qui survit à l'adaptation pour le QC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US : White House CHIPS reports, NSF, NIST, fabs annoncées, IRA cleantech. DE : BMWK, SPRIND, DTEC.Bw, Mittelstand deep-tech (Carl Zeiss, Trumpf).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2 colonnes — US ('big bet subventions') et DE ('dense réseau mittelstand'). Tableau comparatif + 'Ce que le QC peut importer à son échelle.'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Ni modèle US (52 G$ CHIPS) ni Mittelstand ne se reproduisent à l'identique, mais 2 leçons : (1) ciblage d'infrastructures manquantes (US : fab), (2) financement institutionnel long-terme du réseau existant (DE : Fraunhofer). CRIQ et INO = Fraunhofer canadiens potentiels.
Caveats: CHIPS Act 3 ans de recul seulement. Mittelstand produit d'un siècle.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Recherche documentaire à faire.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36 / 62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Émergent : Pologne (cas de rattrapage)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Une économie européenne de rattrapage post-intégration EU peut-elle inspirer une trajectoire d'accélération du QC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NCBR reports, Polish Development Fund (PFR) deep-tech initiatives. OCDE/Eurostat R-D.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Trajectoire 2004–2025 (R-D, compagnies deep-tech) avec annotations inflexions politiques; courbe parallèle QC pour comparaison.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La Pologne montre qu'une décennie de politique industrielle cohérente peut multiplier la base deep-tech par 3–5×. Le QC est plus mature mais a un déficit d'accélération similaire. Horizon = décennie, pas mandat.
Caveats: Fonds EU structurants non-disponibles au Canada. Contexte post-soviétique spécifique.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Recherche documentaire à faire — angle inédit dans rapports canadiens existants.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37 / 62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Domestique : Québec vs reste du Canada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Quelle est la place du Québec dans le deep tech canadien, et où souffre-t-il par rapport à Ontario et CB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StatCan R-D par province. ISED KSBS. Ontario Business Registry (accès à confirmer). GSER/StartupBlink rankings. Rapports MaRS, Communitech (ON), BC Tech.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Carte canadienne choroplèthe + tableau comparatif QC / ON / CB / AB / Atlantique sur 6 indicateurs.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Ontario plus gros en volume absolu (pop 1.8× QC) avec cluster semi Waterloo + biotech Toronto. QC surreprésenté en photonique, quantique, cleantech, aérospatial par habitant. Le QC = province hardware-centric du Canada.
Caveats: Définitions provinciales asymétriques. Comparaison 'toutes choses égales' difficile.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Recherche à faire; Ontario Business Registry à explorer.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38 / 62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CHIPS Act, Chips Act EU, Stratégie quantique CA : la pause canadienne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Quels effets observés des grandes politiques industrielles récentes, et qu'est-ce qui manque côté canadien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White House CHIPS reports + CRS. European Commission dashboards. Conseil consultatif canadien sur les semi (2023). Stratégie quantique CA (360M$).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Timeline 2020–2026 avec montants engagés et résultats à 3 ans; colonne 'Canada' visiblement plus pâle.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Canada n'a pas de CHIPS Act. Instruments existants utiles mais sous-dimensionnés et dispersés. Le QC a les leviers pour agir unilatéralement sur photonique et quantique.
Caveats: CHIPS Act 3 ans de recul — appréciation préliminaire.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Recherche documentaire à faire.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39 / 62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Capital par stade : QC vs pairs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À quels stades de financement le Québec souffre-t-il le plus en deep-tech vs pairs directement comparables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PitchBook/CVCA via RC. Stratification Seed/A/B/Growth pour deep-tech QC vs ON, US moyen, IL, 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4 barres par région (Seed, A, B, Growth) — QC vs 3–4 régions comparables.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Seed correct, Série A correct, Séries B et Growth critiquement manquants pour deep-tech au QC. Goulot canadien amplifié par intensité capitalistique.
Caveats: Stages Dealroom vs PitchBook peuvent différer — normaliser via taxonomy/stages.yaml. Licensed → agrégats.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BLOQUANT sur accord RC.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40 / 62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Défis et lacunes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3F4F6"/>
                </a:solidFill>
              </a:rPr>
              <a:t>Scaling, capex, talent, supply chain, fragmentation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· Section 6 · Défis et lacunes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41 / 62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Le gap de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Combien de compagnies hard-tech québécoises passent du stade seed au scaleup (10M$+ ARR / 50+ employés)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Compter dans GOLD.STARTUP_REGISTRY + données financement les compagnies franchissant les seuils. Comparer ratio formation → scaleup au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Funnel — formation / premier tour / Série A / scaleup — pour hard-tech vs software.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Funnel hard-tech beaucoup plus étroit au sommet. Capital patient et demande domestique manquent.
Caveats: Cohortes petites → valeurs bruitées.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Analyse à faire.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42 / 62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Intensité capitalistique et capex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capital disponible au QC est-il adapté à l'intensité capex du hard-tech (équipements, fab, certifications)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Estimations capex par pilier (littérature publique, comparables). Taille moyenne Série A hard-tech vs software au QC.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Barres 'capex requis pour break-even' par pilier vs 'taille moyenne Série A au QC'.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Écart structurel — les rounds typiques QC ne suffisent pas pour MVP hardware dans la moitié des piliers. Rationale pour instruments publics ou programmes MatchCap.
Caveats: Estimations capex varient énormément intra-pilier.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Recherche + analyse à faire.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43 / 62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Pénurie de talents-clés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Quels profils manquent le plus, et comment ça bloque la croissance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Enquêtes MEIE/Emploi-Québec sur pénurie STEM. Témoignages (entretiens qualitatifs à conduire).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Matrix 2×2 — profil × sévérité de pénurie (qualitatif).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VP Engineering avec scaling hard-tech, ingénieurs process semi, PhDs quantique appliqué, operators EU/US avec réseaux — les plus rares.
Caveats: Qualitatif; à valider par entretiens.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Entretiens à planifier.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44 / 62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Capacité manufacturière et supply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QC peut-il faire scale ses compagnies hard-tech localement, ou dépend-il de sous-traitance externe (US, Asie)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Inventaire des foundries/ateliers propres (INO fab, CMC Microsystems, AAC). Rapports stratégie quantique CA + semi.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Carte des capacités manufacturières au Canada, heatmap par pilier.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Foundry quantique (Bromont — IBM/PINQ²) remarquable. Globalement dépendance forte hors-QC pour fab semi, assembly, certification. Vulnérabilité géopolitique.
Caveats: Ne pas surestimer 'faiblesse' — certains choix de dépendance sont rationnels (scale).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Inventaire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45 / 62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Fragmentation fédéral-provincial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Les instruments fédéraux et provinciaux s'articulent-ils en ensemble cohérent, ou créent-ils confusion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Cartographie des programmes (slide précédente) remixée par niveau de gouvernement. Entretiens qualitatifs avec opérateurs.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Diagramme en flux de la trajectoire d'un opérateur cherchant financement/support — nombre de portes d'entrée, temps moyen.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Fragmentation crée friction — fondateur typique consulte 4–6 programmes. Opportunité pour guichet unique QC.
Caveats: Qualitatif à l'appui d'entretiens.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Entretiens à planifier.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46 / 62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3F4F6"/>
                </a:solidFill>
              </a:rPr>
              <a:t>Placeholders — à formuler après 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· Section 7 · Recommandations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47 / 62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Principes directeurs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Ciblage sous-sectoriel, pas soutien générique 'tech'.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Capital patient + demande domestique, les deux simultanés.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Miser sur les anchors existants (INO, MEDTEQ+, IQ) plutôt que recréer.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Coordonner fédéral-provincial, pas rivaliser.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48 / 62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Recommandation 1 (placeholder) — Capital matériel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Créer un fonds spécifique hard-tech (matching provincial + Investissement Québec + BDC).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Ticket-size alignés sur intensité capex du secteur (Séries B 25–75 M$).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Horizon de liquidité 10–15 ans.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Sous-secteurs prioritaires à déterminer par analyse.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49 / 62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Recommandation 2 (placeholder) — Talent / immigration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Programme d'immigration accéléré pour opérateurs hard-tech expérimentés.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Partenariats avec anchors (INO, MEDTEQ+) pour ciblage.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Alignement avec stratégie provinciale en immigration économique.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50 / 62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Recommandation 3 (placeholder) — Institutions-phares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Financement accru des bureaux de transfert universitaires QC avec mandat spinoffs hard-tech.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Fonds de proof-of-concept pré-incorporation.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Alignement avec INO, MEDTEQ+, Écotech Québec.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51 / 62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Recommandation 4 (placeholder) — Demande domestique / procurement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Programmes de procurement stratégique (Hydro-Québec, Santé publique, transport).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Cadre d'approvisionnement auprès de fournisseurs hard-tech locaux.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Inspiré modèles Israël / Singapour.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52 / 62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Roadmap et suivi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Priorisation 3-3-3 : 3 actions sur 12 mois, 3 sur 36 mois, 3 sur 5 ans.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Indicateurs de suivi quantitatifs (compagnies deep-tech, capital levé, exits, talent).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[PLACEHOLDER] Gouvernance du suivi annuel.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53 / 62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
                  <a:srgbClr val="F97316"/>
                </a:solidFill>
              </a:rPr>
              <a:t>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Annexe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1">
                <a:solidFill>
                  <a:srgbClr val="F3F4F6"/>
                </a:solidFill>
              </a:rPr>
              <a:t>Sources, méthodologie détaillée, taxonomie, limites, reproductibilité, glossaire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· Section 8 · Annexe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54 / 62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Sources de données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REQ (Registraire des entreprises du Québec) — public, extrait 2026-04.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SILVER.REQ_PRODUCT_CLASSIFICATION — dérivé, construit par stage 31 classifier.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GOLD.STARTUP_REGISTRY — registre consolidé QT + RC (Dealroom + Harmonic/PitchBook).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Dealroom via QT — licencié, agrégats seulement.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PitchBook via RC — licencié, agrégats seulement (pending accord formel).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StatCan, ISED, MEIE — public.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Rapports externes : GSER, StartupBlink, BDC, Deloitte, Stanford, MTB (voir insights/reports-external/).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55 / 62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Méthodologie détaillée (1/3) — Classification hybride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une compagnie-type voyage-t-elle à travers le classifier pour être étiquetée 'deep tech'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40+ patterns keywords sur DESC_LOWER et DESC_ALL. Codes CAE (boost ciblés 2851, 3361, 3674, 3827, 3740). Filtre service (regex exclusion) évite 3,757 faux positifs. Score → tier HIGH/MEDIUM/LOW.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Flowchart 'voyage d'une compagnie' — description + CAE → filtres → score → tier. Pédagogique.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Classification reproductible et transparente. Chaque compagnie a un score et un tier, pas une étiquette binaire.
Caveats: 73% des classifications historiques reposaient sur CAE seul. Le filtre service élimine l'essentiel du bruit mais pas tout.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Référentiel prêt (pipelines/transforms/silver/31_req_product_classification.sql + analysis/taxonomy-and-definitions.md).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56 / 62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Méthodologie détaillée (2/3) — Définitions par pilier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chaque pilier est-il défini de façon opérationnelle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Table 9 piliers × 5 colonnes — définition une phrase, 2-3 mots-clés principaux, codes CAE dominants, 2 exemples publics, caveats-clés.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Table dense 9 lignes × 5 colonnes; design clair avec codes CAE en petit.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lecteur peut vérifier comment une compagnie qu'il connaît serait classifiée, et identifier si notre classification diverge de son intuition.
Caveats: La taxonomie est v0.1 — révisions possibles via branche taxonomy/ du repo.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Contenu prêt (analysis/taxonomy-and-definitions.md section 2). Viz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57 / 62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Méthodologie détaillée (3/3) — Matching et gouvernance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Comment les sources multiples (REQ, Dealroom, PitchBook) sont-elles unifiées, et quelles règles de gouvernance appliquées aux données sensibles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Matching : bridge NEQ, fuzzy name ≥ 0.85, manual review whitelist. Gouvernance : agrégats seulement pour sources licenciées, seuil minimum 5 enregistrements.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Diagramme de flux sources → unification → publication, avec annotations gouvernance.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La méthodologie de matching est documentée et reproductible. La gouvernance protège les données sensibles sans empêcher la production d'insights.
Caveats: Compagnies incorporées fédéralement (CBCA) sous-détectées — angle mort structurel.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Référentiel prêt (pipelines/transforms/entity_resolution/ + DATA-GOVERNANCE.md).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58 / 62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Taxonomie employée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QUESTION ANALYTIQUE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Quelle est la taxonomie de secteurs utilisée dans ce rapport, et comment se rattache-t-elle à la taxonomie canonique du repo 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05156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05156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DONNÉES /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41732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taxonomy/sectors.yaml (repo partagé) + taxonomy/startup-criteria.yaml. Périmètre du rapport = DEEPTECH + parties de HEALTHTECH et CLEANTECH + partie d'AGRITECH.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VISUEL (PLACEHOLDER)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Arbre taxonomique 2 niveaux (parent → enfants) avec codes colorés 'inclus / partiellement inclus / exclu'.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3703320"/>
            <a:ext cx="5623560" cy="25146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703320"/>
            <a:ext cx="5623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  TAKEAWAY ATTENDU · CAVEATS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069080"/>
            <a:ext cx="54406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74151"/>
                </a:solidFill>
              </a:rPr>
              <a:t>Le périmètre est clair et décidable : on peut pour chaque compagnie répondre oui/non à 'est-ce dans ce rapport ?'.
Caveats: Taxonomie v0.1 — évolution prévue via branche taxonomy/ du repo.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6263640"/>
            <a:ext cx="11430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1C3D5A"/>
                </a:solidFill>
              </a:rPr>
              <a:t>STATUS: Données prêtes (YAML). Viz à construire.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59 / 62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Limitations connues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73% des classifications REQ historiques reposent sur CAE seul — prudence sur trajectoires fines de sous-secteurs.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Compagnies incorporées fédéralement (CBCA) manquantes dans REQ — angle mort systématique.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REQ capte l'incorporation, pas l'activité commerciale — des 'shells' peuvent être comptés.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Small sample sizes par pilier → pas de tests statistiques fins applicables.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Absence (pending) de données financement RC/PitchBook pour plusieurs slides — version dégradée si non obtenue.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Classification de sous-catégorie repose sur tokens keyword — biais connus (compagnies sans description, anglicismes).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Compagnies acquises/absorbées peuvent disparaître du suivi si réorganisation juridique.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60 / 62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Reproductibilité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Branche : report/hardware-deeptech-quebec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Code : reports/2026-h2/hardware-deeptech-quebec/analysis/ + pipelines/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Diagnostic post-2024 : pipelines/validation/diagnostics/Q5_req_post2024_hardtech.sql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Classification silver : pipelines/transforms/silver/31_req_product_classification.sql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Insights agrégés : insights/2026-h2/hardware-deeptech-*.md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Taxonomie de référence : reports/2026-h2/hardware-deeptech-quebec/analysis/taxonomy-and-definitions.md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61 / 62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Équipe, remerciements, glossaire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Équipe projet : lead QT (Étienne Bernard), lead RC (à nommer), lead CIQ (à nommer si in), reviewers, contributors.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Remerciements : partenaires ayant partagé listes/données (INO, MEDTEQ+, Écotech Québec si confirmés).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Glossaire : deep tech, hard tech, photonique, quantique, scale-up, CAE, NEQ, CBCA, Série A/B, SR&amp;ED, IRAP, Mittelstand.</a:t>
            </a:r>
          </a:p>
          <a:p>
            <a:pPr algn="l">
              <a:spcAft>
                <a:spcPts val="1000"/>
              </a:spcAft>
            </a:pPr>
            <a:r>
              <a:rPr sz="1600">
                <a:solidFill>
                  <a:srgbClr val="374151"/>
                </a:solidFill>
              </a:rPr>
              <a:t>•  Version : v0.2 · Data cutoff : 2026-04 · Contact : etienne@quebectech.com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</a:rPr>
              <a:t>Day Zero draft · v0.2 · Hardware &amp; Deep Tech au Québec · brouillon interne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37960"/>
            <a:ext cx="1005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</a:rPr>
              <a:t>62 / 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